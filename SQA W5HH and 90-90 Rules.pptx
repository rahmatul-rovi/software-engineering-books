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1" r:id="rId3"/>
    <p:sldId id="291" r:id="rId4"/>
    <p:sldId id="265" r:id="rId5"/>
    <p:sldId id="284" r:id="rId6"/>
    <p:sldId id="285" r:id="rId7"/>
    <p:sldId id="286" r:id="rId8"/>
    <p:sldId id="293" r:id="rId9"/>
    <p:sldId id="272" r:id="rId10"/>
    <p:sldId id="294" r:id="rId11"/>
    <p:sldId id="275" r:id="rId12"/>
    <p:sldId id="279" r:id="rId13"/>
    <p:sldId id="282" r:id="rId14"/>
    <p:sldId id="283" r:id="rId15"/>
    <p:sldId id="295" r:id="rId16"/>
    <p:sldId id="298" r:id="rId17"/>
    <p:sldId id="300" r:id="rId18"/>
    <p:sldId id="299" r:id="rId19"/>
    <p:sldId id="301" r:id="rId20"/>
    <p:sldId id="302" r:id="rId21"/>
    <p:sldId id="303" r:id="rId22"/>
    <p:sldId id="257" r:id="rId23"/>
    <p:sldId id="258"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144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A5A9A6B-2ACB-42AD-80E9-02C0348059D0}"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F904CE-E0B4-4C75-81F4-427BCBCF4D4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5A9A6B-2ACB-42AD-80E9-02C0348059D0}"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F904CE-E0B4-4C75-81F4-427BCBCF4D4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5A9A6B-2ACB-42AD-80E9-02C0348059D0}"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F904CE-E0B4-4C75-81F4-427BCBCF4D4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A5A9A6B-2ACB-42AD-80E9-02C0348059D0}" type="datetimeFigureOut">
              <a:rPr lang="en-US" smtClean="0"/>
              <a:t>4/4/2026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F904CE-E0B4-4C75-81F4-427BCBCF4D4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A5A9A6B-2ACB-42AD-80E9-02C0348059D0}" type="datetimeFigureOut">
              <a:rPr lang="en-US" smtClean="0"/>
              <a:t>4/4/2026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F904CE-E0B4-4C75-81F4-427BCBCF4D4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A5A9A6B-2ACB-42AD-80E9-02C0348059D0}" type="datetimeFigureOut">
              <a:rPr lang="en-US" smtClean="0"/>
              <a:t>4/4/2026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F904CE-E0B4-4C75-81F4-427BCBCF4D4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5A9A6B-2ACB-42AD-80E9-02C0348059D0}" type="datetimeFigureOut">
              <a:rPr lang="en-US" smtClean="0"/>
              <a:t>4/4/2026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F904CE-E0B4-4C75-81F4-427BCBCF4D4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A5A9A6B-2ACB-42AD-80E9-02C0348059D0}" type="datetimeFigureOut">
              <a:rPr lang="en-US" smtClean="0"/>
              <a:t>4/4/2026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F904CE-E0B4-4C75-81F4-427BCBCF4D4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A5A9A6B-2ACB-42AD-80E9-02C0348059D0}" type="datetimeFigureOut">
              <a:rPr lang="en-US" smtClean="0"/>
              <a:t>4/4/2026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F904CE-E0B4-4C75-81F4-427BCBCF4D4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5A9A6B-2ACB-42AD-80E9-02C0348059D0}"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F904CE-E0B4-4C75-81F4-427BCBCF4D4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5A9A6B-2ACB-42AD-80E9-02C0348059D0}"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F904CE-E0B4-4C75-81F4-427BCBCF4D4F}"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5A9A6B-2ACB-42AD-80E9-02C0348059D0}"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F904CE-E0B4-4C75-81F4-427BCBCF4D4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5A9A6B-2ACB-42AD-80E9-02C0348059D0}" type="datetimeFigureOut">
              <a:rPr lang="en-US" smtClean="0"/>
              <a:t>4/4/2026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F904CE-E0B4-4C75-81F4-427BCBCF4D4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geeksforgeeks.org/software-engineering-coupling-and-cohesion/"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solidFill>
            <a:schemeClr val="accent3">
              <a:lumMod val="40000"/>
              <a:lumOff val="60000"/>
            </a:schemeClr>
          </a:solidFill>
        </p:spPr>
        <p:txBody>
          <a:bodyPr>
            <a:normAutofit fontScale="90000"/>
          </a:bodyPr>
          <a:lstStyle/>
          <a:p>
            <a:r>
              <a:rPr lang="en-US" dirty="0"/>
              <a:t>CSE-327</a:t>
            </a:r>
            <a:br>
              <a:rPr lang="en-US" dirty="0"/>
            </a:br>
            <a:r>
              <a:rPr lang="en-US" dirty="0"/>
              <a:t>Software Engineering</a:t>
            </a:r>
            <a:br>
              <a:rPr lang="en-US" dirty="0"/>
            </a:br>
            <a:endParaRPr lang="en-US" dirty="0"/>
          </a:p>
        </p:txBody>
      </p:sp>
      <p:sp>
        <p:nvSpPr>
          <p:cNvPr id="3" name="Subtitle 2"/>
          <p:cNvSpPr>
            <a:spLocks noGrp="1"/>
          </p:cNvSpPr>
          <p:nvPr>
            <p:ph type="subTitle" idx="1"/>
          </p:nvPr>
        </p:nvSpPr>
        <p:spPr/>
        <p:txBody>
          <a:bodyPr>
            <a:normAutofit/>
          </a:bodyPr>
          <a:lstStyle/>
          <a:p>
            <a:r>
              <a:rPr lang="en-US" dirty="0"/>
              <a:t>Md Shakil Ahmed</a:t>
            </a:r>
          </a:p>
          <a:p>
            <a:r>
              <a:rPr lang="en-US" dirty="0"/>
              <a:t>Lecturer</a:t>
            </a:r>
          </a:p>
          <a:p>
            <a:r>
              <a:rPr lang="en-US" dirty="0"/>
              <a:t>CSE, BUBT</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40000"/>
              <a:lumOff val="60000"/>
            </a:schemeClr>
          </a:solidFill>
        </p:spPr>
        <p:txBody>
          <a:bodyPr/>
          <a:lstStyle/>
          <a:p>
            <a:r>
              <a:rPr lang="en-US" dirty="0"/>
              <a:t>Reference </a:t>
            </a:r>
          </a:p>
        </p:txBody>
      </p:sp>
      <p:sp>
        <p:nvSpPr>
          <p:cNvPr id="3" name="Content Placeholder 2"/>
          <p:cNvSpPr>
            <a:spLocks noGrp="1"/>
          </p:cNvSpPr>
          <p:nvPr>
            <p:ph idx="1"/>
          </p:nvPr>
        </p:nvSpPr>
        <p:spPr/>
        <p:txBody>
          <a:bodyPr/>
          <a:lstStyle/>
          <a:p>
            <a:r>
              <a:rPr lang="en-US" dirty="0"/>
              <a:t>Chapter-21 : Software Engineering: A Practitioner’s Approach – Roger S. Pressman (8th Edition)</a:t>
            </a:r>
          </a:p>
          <a:p>
            <a:r>
              <a:rPr lang="en-US" sz="2800" dirty="0">
                <a:hlinkClick r:id="rId2"/>
              </a:rPr>
              <a:t>https://www.geeksforgeeks.org/software-engineering-coupling-and-cohesion/</a:t>
            </a:r>
            <a:endParaRPr lang="en-US" sz="2800" dirty="0"/>
          </a:p>
          <a:p>
            <a:pPr marL="0" indent="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40000"/>
              <a:lumOff val="60000"/>
            </a:schemeClr>
          </a:solidFill>
        </p:spPr>
        <p:txBody>
          <a:bodyPr/>
          <a:lstStyle/>
          <a:p>
            <a:r>
              <a:rPr lang="en-US" dirty="0"/>
              <a:t>Software Quality Assurance (SQA) </a:t>
            </a:r>
          </a:p>
        </p:txBody>
      </p:sp>
      <p:sp>
        <p:nvSpPr>
          <p:cNvPr id="3" name="Content Placeholder 2"/>
          <p:cNvSpPr>
            <a:spLocks noGrp="1"/>
          </p:cNvSpPr>
          <p:nvPr>
            <p:ph idx="1"/>
          </p:nvPr>
        </p:nvSpPr>
        <p:spPr/>
        <p:txBody>
          <a:bodyPr>
            <a:normAutofit fontScale="85000" lnSpcReduction="10000"/>
          </a:bodyPr>
          <a:lstStyle/>
          <a:p>
            <a:r>
              <a:rPr lang="en-US" dirty="0"/>
              <a:t>Software Quality Assurance (SQA) is simply a way to </a:t>
            </a:r>
            <a:r>
              <a:rPr lang="en-US" dirty="0">
                <a:solidFill>
                  <a:srgbClr val="FF0000"/>
                </a:solidFill>
              </a:rPr>
              <a:t>assure quality in the software</a:t>
            </a:r>
            <a:r>
              <a:rPr lang="en-US" dirty="0"/>
              <a:t>. It is the set of activities which ensure processes, procedures as well as standards are suitable for the project and implemented correctly. </a:t>
            </a:r>
          </a:p>
          <a:p>
            <a:endParaRPr lang="en-US" dirty="0"/>
          </a:p>
          <a:p>
            <a:r>
              <a:rPr lang="en-US" dirty="0"/>
              <a:t>Software Quality Assurance is a process which </a:t>
            </a:r>
            <a:r>
              <a:rPr lang="en-US" dirty="0">
                <a:solidFill>
                  <a:srgbClr val="FF0000"/>
                </a:solidFill>
              </a:rPr>
              <a:t>works parallel to development of software</a:t>
            </a:r>
            <a:r>
              <a:rPr lang="en-US" dirty="0"/>
              <a:t>. It focuses on improving the process of development of software so that problems can be prevented before they become a major issue. </a:t>
            </a:r>
          </a:p>
          <a:p>
            <a:endParaRPr lang="en-US" dirty="0"/>
          </a:p>
          <a:p>
            <a:r>
              <a:rPr lang="en-US" dirty="0"/>
              <a:t>Software Quality Assurance is a kind of Umbrella activity that is applied throughout the software process.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40000"/>
              <a:lumOff val="60000"/>
            </a:schemeClr>
          </a:solidFill>
        </p:spPr>
        <p:txBody>
          <a:bodyPr>
            <a:normAutofit/>
          </a:bodyPr>
          <a:lstStyle/>
          <a:p>
            <a:r>
              <a:rPr lang="en-US" dirty="0"/>
              <a:t>Elements of Software Quality Assurance</a:t>
            </a:r>
          </a:p>
        </p:txBody>
      </p:sp>
      <p:sp>
        <p:nvSpPr>
          <p:cNvPr id="3" name="Content Placeholder 2"/>
          <p:cNvSpPr>
            <a:spLocks noGrp="1"/>
          </p:cNvSpPr>
          <p:nvPr>
            <p:ph idx="1"/>
          </p:nvPr>
        </p:nvSpPr>
        <p:spPr>
          <a:xfrm>
            <a:off x="628650" y="1825625"/>
            <a:ext cx="7886700" cy="4351338"/>
          </a:xfrm>
        </p:spPr>
        <p:txBody>
          <a:bodyPr>
            <a:normAutofit/>
          </a:bodyPr>
          <a:lstStyle/>
          <a:p>
            <a:r>
              <a:rPr lang="en-US" sz="2400" dirty="0">
                <a:solidFill>
                  <a:srgbClr val="FF0000"/>
                </a:solidFill>
              </a:rPr>
              <a:t>Standards</a:t>
            </a:r>
          </a:p>
          <a:p>
            <a:pPr lvl="1"/>
            <a:r>
              <a:rPr lang="en-US" sz="2000" dirty="0"/>
              <a:t>The IEEE, ISO, and other standards organizations have produced a broad array of software engineering standards and related documents. </a:t>
            </a:r>
          </a:p>
          <a:p>
            <a:pPr lvl="1"/>
            <a:r>
              <a:rPr lang="en-US" sz="2000" dirty="0"/>
              <a:t>The job of SQA is to ensure that standards that have been adopted are followed and that all work products conform to them.</a:t>
            </a:r>
          </a:p>
          <a:p>
            <a:r>
              <a:rPr lang="en-US" sz="2400" dirty="0">
                <a:solidFill>
                  <a:srgbClr val="FF0000"/>
                </a:solidFill>
              </a:rPr>
              <a:t>Reviews and audits</a:t>
            </a:r>
            <a:r>
              <a:rPr lang="en-US" sz="2400" dirty="0"/>
              <a:t> </a:t>
            </a:r>
          </a:p>
          <a:p>
            <a:pPr lvl="1"/>
            <a:r>
              <a:rPr lang="en-US" sz="2000" dirty="0"/>
              <a:t>Technical reviews are a quality control activity performed by software engineers. Their intent is to uncover errors. </a:t>
            </a:r>
          </a:p>
          <a:p>
            <a:pPr lvl="1"/>
            <a:r>
              <a:rPr lang="en-US" sz="2000" dirty="0"/>
              <a:t>Audits are a type of review performed by SQA personnel with the intent of ensuring that quality guidelines are being followed for software engineering 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40000"/>
              <a:lumOff val="60000"/>
            </a:schemeClr>
          </a:solidFill>
        </p:spPr>
        <p:txBody>
          <a:bodyPr>
            <a:normAutofit/>
          </a:bodyPr>
          <a:lstStyle/>
          <a:p>
            <a:r>
              <a:rPr lang="en-US" dirty="0"/>
              <a:t>Elements of Software Quality Assurance</a:t>
            </a:r>
          </a:p>
        </p:txBody>
      </p:sp>
      <p:sp>
        <p:nvSpPr>
          <p:cNvPr id="3" name="Content Placeholder 2"/>
          <p:cNvSpPr>
            <a:spLocks noGrp="1"/>
          </p:cNvSpPr>
          <p:nvPr>
            <p:ph idx="1"/>
          </p:nvPr>
        </p:nvSpPr>
        <p:spPr/>
        <p:txBody>
          <a:bodyPr/>
          <a:lstStyle/>
          <a:p>
            <a:r>
              <a:rPr lang="en-US" dirty="0">
                <a:solidFill>
                  <a:srgbClr val="FF0000"/>
                </a:solidFill>
              </a:rPr>
              <a:t>Testing</a:t>
            </a:r>
            <a:r>
              <a:rPr lang="en-US" dirty="0"/>
              <a:t> </a:t>
            </a:r>
          </a:p>
          <a:p>
            <a:pPr lvl="1"/>
            <a:r>
              <a:rPr lang="en-US" dirty="0"/>
              <a:t>Software testing is a quality control function that has one primary goal—to find errors. </a:t>
            </a:r>
          </a:p>
          <a:p>
            <a:pPr lvl="1"/>
            <a:r>
              <a:rPr lang="en-US" dirty="0"/>
              <a:t>The job of SQA is to ensure that testing is properly planned and efficiently conducted.</a:t>
            </a:r>
          </a:p>
          <a:p>
            <a:r>
              <a:rPr lang="en-US" dirty="0">
                <a:solidFill>
                  <a:srgbClr val="FF0000"/>
                </a:solidFill>
              </a:rPr>
              <a:t>Error/defect collection and analysis</a:t>
            </a:r>
          </a:p>
          <a:p>
            <a:pPr lvl="1"/>
            <a:r>
              <a:rPr lang="en-US" dirty="0"/>
              <a:t>SQA collects and analyzes error and defect data to better understand how errors are introduced and what software engineering activities are best suited to eliminating them.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40000"/>
              <a:lumOff val="60000"/>
            </a:schemeClr>
          </a:solidFill>
        </p:spPr>
        <p:txBody>
          <a:bodyPr>
            <a:normAutofit/>
          </a:bodyPr>
          <a:lstStyle/>
          <a:p>
            <a:r>
              <a:rPr lang="en-US" dirty="0"/>
              <a:t>Elements of Software Quality Assurance</a:t>
            </a:r>
          </a:p>
        </p:txBody>
      </p:sp>
      <p:sp>
        <p:nvSpPr>
          <p:cNvPr id="3" name="Content Placeholder 2"/>
          <p:cNvSpPr>
            <a:spLocks noGrp="1"/>
          </p:cNvSpPr>
          <p:nvPr>
            <p:ph idx="1"/>
          </p:nvPr>
        </p:nvSpPr>
        <p:spPr/>
        <p:txBody>
          <a:bodyPr>
            <a:normAutofit/>
          </a:bodyPr>
          <a:lstStyle/>
          <a:p>
            <a:r>
              <a:rPr lang="en-US" sz="3000" dirty="0">
                <a:solidFill>
                  <a:srgbClr val="FF0000"/>
                </a:solidFill>
              </a:rPr>
              <a:t>Change management</a:t>
            </a:r>
          </a:p>
          <a:p>
            <a:pPr lvl="1"/>
            <a:r>
              <a:rPr lang="en-US" sz="2000" dirty="0"/>
              <a:t>Change is one of the most disruptive aspects of any software project. If it is not properly managed, change can lead to confusion, and confusion almost always leads to poor quality. </a:t>
            </a:r>
          </a:p>
          <a:p>
            <a:pPr lvl="1"/>
            <a:r>
              <a:rPr lang="en-US" sz="2000" dirty="0"/>
              <a:t>SQA ensures that adequate change management practices have been instituted.</a:t>
            </a:r>
          </a:p>
          <a:p>
            <a:r>
              <a:rPr lang="en-US" sz="3000" dirty="0">
                <a:solidFill>
                  <a:srgbClr val="FF0000"/>
                </a:solidFill>
              </a:rPr>
              <a:t>Vendor management</a:t>
            </a:r>
          </a:p>
          <a:p>
            <a:pPr lvl="1"/>
            <a:r>
              <a:rPr lang="en-US" sz="2000" dirty="0"/>
              <a:t> The job of the SQA organization is to ensure that high-quality software results by suggesting specific quality practices that the vendor should follow (when possible), and incorporating quality mandates as part of any contract with an external vendor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40000"/>
              <a:lumOff val="60000"/>
            </a:schemeClr>
          </a:solidFill>
        </p:spPr>
        <p:txBody>
          <a:bodyPr>
            <a:normAutofit/>
          </a:bodyPr>
          <a:lstStyle/>
          <a:p>
            <a:r>
              <a:rPr lang="en-US" dirty="0"/>
              <a:t>Elements of Software Quality Assurance</a:t>
            </a:r>
          </a:p>
        </p:txBody>
      </p:sp>
      <p:sp>
        <p:nvSpPr>
          <p:cNvPr id="3" name="Content Placeholder 2"/>
          <p:cNvSpPr>
            <a:spLocks noGrp="1"/>
          </p:cNvSpPr>
          <p:nvPr>
            <p:ph idx="1"/>
          </p:nvPr>
        </p:nvSpPr>
        <p:spPr/>
        <p:txBody>
          <a:bodyPr>
            <a:normAutofit/>
          </a:bodyPr>
          <a:lstStyle/>
          <a:p>
            <a:r>
              <a:rPr lang="en-US" dirty="0">
                <a:solidFill>
                  <a:srgbClr val="FF0000"/>
                </a:solidFill>
              </a:rPr>
              <a:t>Security management</a:t>
            </a:r>
          </a:p>
          <a:p>
            <a:pPr lvl="1"/>
            <a:r>
              <a:rPr lang="en-US" dirty="0"/>
              <a:t>SQA ensures that appropriate process and technology are used to achieve software security.</a:t>
            </a:r>
          </a:p>
          <a:p>
            <a:r>
              <a:rPr lang="en-US" dirty="0">
                <a:solidFill>
                  <a:srgbClr val="FF0000"/>
                </a:solidFill>
              </a:rPr>
              <a:t>Risk management</a:t>
            </a:r>
            <a:r>
              <a:rPr lang="en-US" dirty="0"/>
              <a:t> </a:t>
            </a:r>
          </a:p>
          <a:p>
            <a:pPr lvl="1"/>
            <a:r>
              <a:rPr lang="en-US" dirty="0"/>
              <a:t>The SQA organization ensures that risk management activities are properly conducted and that risk-related contingency plans have been established.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40000"/>
              <a:lumOff val="60000"/>
            </a:schemeClr>
          </a:solidFill>
        </p:spPr>
        <p:txBody>
          <a:bodyPr/>
          <a:lstStyle/>
          <a:p>
            <a:r>
              <a:rPr lang="en-US" dirty="0"/>
              <a:t>SQA Tasks</a:t>
            </a:r>
          </a:p>
        </p:txBody>
      </p:sp>
      <p:sp>
        <p:nvSpPr>
          <p:cNvPr id="3" name="Content Placeholder 2"/>
          <p:cNvSpPr>
            <a:spLocks noGrp="1"/>
          </p:cNvSpPr>
          <p:nvPr>
            <p:ph idx="1"/>
          </p:nvPr>
        </p:nvSpPr>
        <p:spPr/>
        <p:txBody>
          <a:bodyPr>
            <a:normAutofit fontScale="92500" lnSpcReduction="20000"/>
          </a:bodyPr>
          <a:lstStyle/>
          <a:p>
            <a:r>
              <a:rPr lang="en-US" dirty="0">
                <a:solidFill>
                  <a:srgbClr val="00B050"/>
                </a:solidFill>
              </a:rPr>
              <a:t>Prepares</a:t>
            </a:r>
            <a:r>
              <a:rPr lang="en-US" dirty="0"/>
              <a:t> an </a:t>
            </a:r>
            <a:r>
              <a:rPr lang="en-US" dirty="0">
                <a:solidFill>
                  <a:srgbClr val="00B050"/>
                </a:solidFill>
              </a:rPr>
              <a:t>SQA plan </a:t>
            </a:r>
            <a:r>
              <a:rPr lang="en-US" dirty="0"/>
              <a:t>for a project.</a:t>
            </a:r>
          </a:p>
          <a:p>
            <a:r>
              <a:rPr lang="en-US" dirty="0">
                <a:solidFill>
                  <a:srgbClr val="00B050"/>
                </a:solidFill>
              </a:rPr>
              <a:t>Participates</a:t>
            </a:r>
            <a:r>
              <a:rPr lang="en-US" dirty="0"/>
              <a:t> in the development of the project’s software </a:t>
            </a:r>
            <a:r>
              <a:rPr lang="en-US" dirty="0">
                <a:solidFill>
                  <a:srgbClr val="00B050"/>
                </a:solidFill>
              </a:rPr>
              <a:t>process description</a:t>
            </a:r>
            <a:r>
              <a:rPr lang="en-US" dirty="0"/>
              <a:t>.</a:t>
            </a:r>
          </a:p>
          <a:p>
            <a:r>
              <a:rPr lang="en-US" dirty="0">
                <a:solidFill>
                  <a:srgbClr val="00B050"/>
                </a:solidFill>
              </a:rPr>
              <a:t>Reviews</a:t>
            </a:r>
            <a:r>
              <a:rPr lang="en-US" dirty="0"/>
              <a:t> software engineering activities to verify compliance with the defined software process.</a:t>
            </a:r>
          </a:p>
          <a:p>
            <a:r>
              <a:rPr lang="en-US" dirty="0">
                <a:solidFill>
                  <a:srgbClr val="00B050"/>
                </a:solidFill>
              </a:rPr>
              <a:t>Audits </a:t>
            </a:r>
            <a:r>
              <a:rPr lang="en-US" dirty="0"/>
              <a:t>designated software work products to verify compliance with those defined as part of the software process.</a:t>
            </a:r>
          </a:p>
          <a:p>
            <a:r>
              <a:rPr lang="en-US" dirty="0">
                <a:solidFill>
                  <a:srgbClr val="00B050"/>
                </a:solidFill>
              </a:rPr>
              <a:t>Ensures </a:t>
            </a:r>
            <a:r>
              <a:rPr lang="en-US" dirty="0"/>
              <a:t>that deviations in software work and work products are documented and handled according to a documented procedure.</a:t>
            </a:r>
          </a:p>
          <a:p>
            <a:r>
              <a:rPr lang="en-US" dirty="0">
                <a:solidFill>
                  <a:srgbClr val="00B050"/>
                </a:solidFill>
              </a:rPr>
              <a:t>Records</a:t>
            </a:r>
            <a:r>
              <a:rPr lang="en-US" dirty="0"/>
              <a:t> any noncompliance and reports to senior management.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40000"/>
              <a:lumOff val="60000"/>
            </a:schemeClr>
          </a:solidFill>
        </p:spPr>
        <p:txBody>
          <a:bodyPr/>
          <a:lstStyle/>
          <a:p>
            <a:r>
              <a:rPr lang="en-US" dirty="0"/>
              <a:t>Goals, Attributes, and Metrics </a:t>
            </a:r>
          </a:p>
        </p:txBody>
      </p:sp>
      <p:sp>
        <p:nvSpPr>
          <p:cNvPr id="3" name="Content Placeholder 2"/>
          <p:cNvSpPr>
            <a:spLocks noGrp="1"/>
          </p:cNvSpPr>
          <p:nvPr>
            <p:ph idx="1"/>
          </p:nvPr>
        </p:nvSpPr>
        <p:spPr/>
        <p:txBody>
          <a:bodyPr>
            <a:normAutofit fontScale="85000" lnSpcReduction="20000"/>
          </a:bodyPr>
          <a:lstStyle/>
          <a:p>
            <a:r>
              <a:rPr lang="en-US" dirty="0"/>
              <a:t>The SQA activities described in the preceding section are performed to achieve a set of pragmatic goals: </a:t>
            </a:r>
          </a:p>
          <a:p>
            <a:r>
              <a:rPr lang="en-US" dirty="0">
                <a:solidFill>
                  <a:srgbClr val="FF0000"/>
                </a:solidFill>
              </a:rPr>
              <a:t>Requirements quality</a:t>
            </a:r>
            <a:r>
              <a:rPr lang="en-US" dirty="0"/>
              <a:t> </a:t>
            </a:r>
          </a:p>
          <a:p>
            <a:pPr lvl="1"/>
            <a:r>
              <a:rPr lang="en-US" dirty="0"/>
              <a:t>SQA must ensure that the software team has properly reviewed the requirements model to achieve a high level of quality. </a:t>
            </a:r>
          </a:p>
          <a:p>
            <a:r>
              <a:rPr lang="en-US" dirty="0">
                <a:solidFill>
                  <a:srgbClr val="FF0000"/>
                </a:solidFill>
              </a:rPr>
              <a:t>Design quality</a:t>
            </a:r>
          </a:p>
          <a:p>
            <a:pPr lvl="1"/>
            <a:r>
              <a:rPr lang="en-US" dirty="0"/>
              <a:t>SQA looks for attributes of the design that are indicators of quality. </a:t>
            </a:r>
          </a:p>
          <a:p>
            <a:r>
              <a:rPr lang="en-US" dirty="0">
                <a:solidFill>
                  <a:srgbClr val="FF0000"/>
                </a:solidFill>
              </a:rPr>
              <a:t>Code quality</a:t>
            </a:r>
          </a:p>
          <a:p>
            <a:pPr lvl="1"/>
            <a:r>
              <a:rPr lang="en-US" dirty="0"/>
              <a:t>SQA should isolate the attributes that allow a reasonable analysis of the quality of code. </a:t>
            </a:r>
          </a:p>
          <a:p>
            <a:r>
              <a:rPr lang="en-US" dirty="0">
                <a:solidFill>
                  <a:srgbClr val="FF0000"/>
                </a:solidFill>
              </a:rPr>
              <a:t>Quality control effectiveness</a:t>
            </a:r>
          </a:p>
          <a:p>
            <a:pPr lvl="1"/>
            <a:r>
              <a:rPr lang="en-US" dirty="0"/>
              <a:t>SQA analyzes the allocation of resources for reviews and testing to assess whether they are being allocated in the most effective manner.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a:stretch>
            <a:fillRect/>
          </a:stretch>
        </p:blipFill>
        <p:spPr>
          <a:xfrm>
            <a:off x="1399851" y="80855"/>
            <a:ext cx="6172802" cy="66962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40000"/>
              <a:lumOff val="60000"/>
            </a:schemeClr>
          </a:solidFill>
        </p:spPr>
        <p:txBody>
          <a:bodyPr>
            <a:normAutofit/>
          </a:bodyPr>
          <a:lstStyle/>
          <a:p>
            <a:r>
              <a:rPr lang="en-US" sz="4200" dirty="0"/>
              <a:t>Six Sigma for Software Engineering</a:t>
            </a:r>
          </a:p>
        </p:txBody>
      </p:sp>
      <p:sp>
        <p:nvSpPr>
          <p:cNvPr id="3" name="Content Placeholder 2"/>
          <p:cNvSpPr>
            <a:spLocks noGrp="1"/>
          </p:cNvSpPr>
          <p:nvPr>
            <p:ph idx="1"/>
          </p:nvPr>
        </p:nvSpPr>
        <p:spPr/>
        <p:txBody>
          <a:bodyPr/>
          <a:lstStyle/>
          <a:p>
            <a:r>
              <a:rPr lang="en-US" dirty="0"/>
              <a:t>Six Sigma is the most widely used strategy for statistical quality assurance in industry today.</a:t>
            </a:r>
          </a:p>
          <a:p>
            <a:r>
              <a:rPr lang="en-US" dirty="0"/>
              <a:t>Originally popularized by Motorola in the 1980s, the Six Sigma strategy “is a rigorous and disciplined methodology that uses data and statistical analysis to </a:t>
            </a:r>
            <a:r>
              <a:rPr lang="en-US" dirty="0">
                <a:solidFill>
                  <a:srgbClr val="00B050"/>
                </a:solidFill>
              </a:rPr>
              <a:t>measure and improve a company’s operational performance</a:t>
            </a:r>
            <a:r>
              <a:rPr lang="en-US" dirty="0"/>
              <a:t> by identifying and eliminating defects in manufacturing and service-related processes”.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40000"/>
              <a:lumOff val="60000"/>
            </a:schemeClr>
          </a:solidFill>
        </p:spPr>
        <p:txBody>
          <a:bodyPr>
            <a:normAutofit/>
          </a:bodyPr>
          <a:lstStyle/>
          <a:p>
            <a:r>
              <a:rPr lang="en-US" sz="4200" dirty="0"/>
              <a:t>Six Sigma for Software Engineering</a:t>
            </a:r>
          </a:p>
        </p:txBody>
      </p:sp>
      <p:sp>
        <p:nvSpPr>
          <p:cNvPr id="3" name="Content Placeholder 2"/>
          <p:cNvSpPr>
            <a:spLocks noGrp="1"/>
          </p:cNvSpPr>
          <p:nvPr>
            <p:ph idx="1"/>
          </p:nvPr>
        </p:nvSpPr>
        <p:spPr/>
        <p:txBody>
          <a:bodyPr>
            <a:normAutofit/>
          </a:bodyPr>
          <a:lstStyle/>
          <a:p>
            <a:pPr marL="0" indent="0">
              <a:buNone/>
            </a:pPr>
            <a:r>
              <a:rPr lang="en-US" dirty="0"/>
              <a:t>The Six Sigma methodology defines three core steps: </a:t>
            </a:r>
          </a:p>
          <a:p>
            <a:r>
              <a:rPr lang="en-US" dirty="0">
                <a:solidFill>
                  <a:srgbClr val="FF0000"/>
                </a:solidFill>
              </a:rPr>
              <a:t>Define</a:t>
            </a:r>
            <a:r>
              <a:rPr lang="en-US" dirty="0"/>
              <a:t> customer requirements and deliverables and project goals via well-defined methods of customer communication. </a:t>
            </a:r>
          </a:p>
          <a:p>
            <a:r>
              <a:rPr lang="en-US" dirty="0">
                <a:solidFill>
                  <a:srgbClr val="FF0000"/>
                </a:solidFill>
              </a:rPr>
              <a:t>Measure</a:t>
            </a:r>
            <a:r>
              <a:rPr lang="en-US" dirty="0"/>
              <a:t> the existing process and its output to determine current quality performance (collect defect metrics). </a:t>
            </a:r>
          </a:p>
          <a:p>
            <a:r>
              <a:rPr lang="en-US" dirty="0">
                <a:solidFill>
                  <a:srgbClr val="FF0000"/>
                </a:solidFill>
              </a:rPr>
              <a:t>Analyze</a:t>
            </a:r>
            <a:r>
              <a:rPr lang="en-US" dirty="0"/>
              <a:t> defect metrics and determine the vital few causes.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40000"/>
              <a:lumOff val="60000"/>
            </a:schemeClr>
          </a:solidFill>
        </p:spPr>
        <p:txBody>
          <a:bodyPr>
            <a:normAutofit/>
          </a:bodyPr>
          <a:lstStyle/>
          <a:p>
            <a:r>
              <a:rPr lang="en-US" sz="4200" dirty="0"/>
              <a:t>Six Sigma for Software Engineering</a:t>
            </a:r>
          </a:p>
        </p:txBody>
      </p:sp>
      <p:sp>
        <p:nvSpPr>
          <p:cNvPr id="3" name="Content Placeholder 2"/>
          <p:cNvSpPr>
            <a:spLocks noGrp="1"/>
          </p:cNvSpPr>
          <p:nvPr>
            <p:ph idx="1"/>
          </p:nvPr>
        </p:nvSpPr>
        <p:spPr/>
        <p:txBody>
          <a:bodyPr/>
          <a:lstStyle/>
          <a:p>
            <a:pPr marL="0" indent="0">
              <a:buNone/>
            </a:pPr>
            <a:r>
              <a:rPr lang="en-US" dirty="0"/>
              <a:t>If an existing software process is in place, but improvement is required, Six Sigma suggests two additional steps:</a:t>
            </a:r>
          </a:p>
          <a:p>
            <a:r>
              <a:rPr lang="en-US" dirty="0">
                <a:solidFill>
                  <a:srgbClr val="FF0000"/>
                </a:solidFill>
              </a:rPr>
              <a:t>Improve</a:t>
            </a:r>
            <a:r>
              <a:rPr lang="en-US" dirty="0"/>
              <a:t> the process by eliminating the root causes of defects. </a:t>
            </a:r>
          </a:p>
          <a:p>
            <a:r>
              <a:rPr lang="en-US" dirty="0">
                <a:solidFill>
                  <a:srgbClr val="FF0000"/>
                </a:solidFill>
              </a:rPr>
              <a:t>Control</a:t>
            </a:r>
            <a:r>
              <a:rPr lang="en-US" dirty="0"/>
              <a:t> the process to ensure that future work does not reintroduce the causes of defects.</a:t>
            </a:r>
          </a:p>
        </p:txBody>
      </p:sp>
      <p:sp>
        <p:nvSpPr>
          <p:cNvPr id="4" name="TextBox 3"/>
          <p:cNvSpPr txBox="1"/>
          <p:nvPr/>
        </p:nvSpPr>
        <p:spPr>
          <a:xfrm>
            <a:off x="941033" y="5305043"/>
            <a:ext cx="7208668" cy="646331"/>
          </a:xfrm>
          <a:prstGeom prst="rect">
            <a:avLst/>
          </a:prstGeom>
          <a:solidFill>
            <a:schemeClr val="accent2">
              <a:lumMod val="20000"/>
              <a:lumOff val="80000"/>
            </a:schemeClr>
          </a:solidFill>
        </p:spPr>
        <p:txBody>
          <a:bodyPr wrap="square" rtlCol="0">
            <a:spAutoFit/>
          </a:bodyPr>
          <a:lstStyle/>
          <a:p>
            <a:r>
              <a:rPr lang="en-US" dirty="0"/>
              <a:t>These core and additional steps are sometimes referred to as the DMAIC (define, measure, analyze, improve, and control) method.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40000"/>
              <a:lumOff val="60000"/>
            </a:schemeClr>
          </a:solidFill>
        </p:spPr>
        <p:txBody>
          <a:bodyPr>
            <a:normAutofit/>
          </a:bodyPr>
          <a:lstStyle/>
          <a:p>
            <a:r>
              <a:rPr lang="en-US" sz="4200" dirty="0"/>
              <a:t>Six Sigma for Software Engineering</a:t>
            </a:r>
          </a:p>
        </p:txBody>
      </p:sp>
      <p:sp>
        <p:nvSpPr>
          <p:cNvPr id="3" name="Content Placeholder 2"/>
          <p:cNvSpPr>
            <a:spLocks noGrp="1"/>
          </p:cNvSpPr>
          <p:nvPr>
            <p:ph idx="1"/>
          </p:nvPr>
        </p:nvSpPr>
        <p:spPr/>
        <p:txBody>
          <a:bodyPr/>
          <a:lstStyle/>
          <a:p>
            <a:pPr marL="0" indent="0">
              <a:buNone/>
            </a:pPr>
            <a:r>
              <a:rPr lang="en-US" dirty="0"/>
              <a:t>If an organization is developing a software process (rather than improving an existing process), the core steps are augmented as follows:</a:t>
            </a:r>
          </a:p>
          <a:p>
            <a:r>
              <a:rPr lang="en-US" dirty="0">
                <a:solidFill>
                  <a:srgbClr val="FF0000"/>
                </a:solidFill>
              </a:rPr>
              <a:t>Design</a:t>
            </a:r>
            <a:r>
              <a:rPr lang="en-US" dirty="0"/>
              <a:t> the process to (1) avoid the root causes of defects and (2) to meet customer requirements. </a:t>
            </a:r>
          </a:p>
          <a:p>
            <a:r>
              <a:rPr lang="en-US" dirty="0">
                <a:solidFill>
                  <a:srgbClr val="FF0000"/>
                </a:solidFill>
              </a:rPr>
              <a:t>Verify</a:t>
            </a:r>
            <a:r>
              <a:rPr lang="en-US" dirty="0"/>
              <a:t> that the process model will, in fact, avoid defects and meet customer requirements. </a:t>
            </a:r>
          </a:p>
        </p:txBody>
      </p:sp>
      <p:sp>
        <p:nvSpPr>
          <p:cNvPr id="4" name="TextBox 3"/>
          <p:cNvSpPr txBox="1"/>
          <p:nvPr/>
        </p:nvSpPr>
        <p:spPr>
          <a:xfrm>
            <a:off x="737696" y="5317724"/>
            <a:ext cx="7668607" cy="646331"/>
          </a:xfrm>
          <a:prstGeom prst="rect">
            <a:avLst/>
          </a:prstGeom>
          <a:solidFill>
            <a:schemeClr val="accent2">
              <a:lumMod val="20000"/>
              <a:lumOff val="80000"/>
            </a:schemeClr>
          </a:solidFill>
        </p:spPr>
        <p:txBody>
          <a:bodyPr wrap="square" rtlCol="0">
            <a:spAutoFit/>
          </a:bodyPr>
          <a:lstStyle/>
          <a:p>
            <a:r>
              <a:rPr lang="en-US" dirty="0"/>
              <a:t>This variation is sometimes called the DMADV (define, measure, analyze, design, and verify) method.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Example of Six Sigma for Existing System</a:t>
            </a:r>
          </a:p>
        </p:txBody>
      </p:sp>
      <p:sp>
        <p:nvSpPr>
          <p:cNvPr id="3" name="Content Placeholder 2"/>
          <p:cNvSpPr>
            <a:spLocks noGrp="1"/>
          </p:cNvSpPr>
          <p:nvPr>
            <p:ph idx="1"/>
          </p:nvPr>
        </p:nvSpPr>
        <p:spPr/>
        <p:txBody>
          <a:bodyPr/>
          <a:lstStyle/>
          <a:p>
            <a:pPr algn="just"/>
            <a:r>
              <a:rPr lang="en-US" altLang="en-US"/>
              <a:t>A food delivery company can use the DMAIC methodology to address frequent complaints about late deliveries, which are a primary source of customer dissatisfaction.</a:t>
            </a:r>
          </a:p>
          <a:p>
            <a:pPr algn="just"/>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p:nvPr/>
        </p:nvGraphicFramePr>
        <p:xfrm>
          <a:off x="590550" y="887095"/>
          <a:ext cx="7924800" cy="5302882"/>
        </p:xfrm>
        <a:graphic>
          <a:graphicData uri="http://schemas.openxmlformats.org/drawingml/2006/table">
            <a:tbl>
              <a:tblPr>
                <a:tableStyleId>{BDBED569-4797-4DF1-A0F4-6AAB3CD982D8}</a:tableStyleId>
              </a:tblPr>
              <a:tblGrid>
                <a:gridCol w="1090930">
                  <a:extLst>
                    <a:ext uri="{9D8B030D-6E8A-4147-A177-3AD203B41FA5}">
                      <a16:colId xmlns:a16="http://schemas.microsoft.com/office/drawing/2014/main" val="20000"/>
                    </a:ext>
                  </a:extLst>
                </a:gridCol>
                <a:gridCol w="2760980">
                  <a:extLst>
                    <a:ext uri="{9D8B030D-6E8A-4147-A177-3AD203B41FA5}">
                      <a16:colId xmlns:a16="http://schemas.microsoft.com/office/drawing/2014/main" val="20001"/>
                    </a:ext>
                  </a:extLst>
                </a:gridCol>
                <a:gridCol w="4072890">
                  <a:extLst>
                    <a:ext uri="{9D8B030D-6E8A-4147-A177-3AD203B41FA5}">
                      <a16:colId xmlns:a16="http://schemas.microsoft.com/office/drawing/2014/main" val="20002"/>
                    </a:ext>
                  </a:extLst>
                </a:gridCol>
              </a:tblGrid>
              <a:tr h="864870">
                <a:tc>
                  <a:txBody>
                    <a:bodyPr/>
                    <a:lstStyle/>
                    <a:p>
                      <a:pPr fontAlgn="t">
                        <a:lnSpc>
                          <a:spcPts val="1650"/>
                        </a:lnSpc>
                      </a:pPr>
                      <a:r>
                        <a:rPr sz="1200" b="1">
                          <a:latin typeface="Arial" panose="020B0604020202020204" pitchFamily="34" charset="0"/>
                          <a:cs typeface="Arial" panose="020B0604020202020204" pitchFamily="34" charset="0"/>
                        </a:rPr>
                        <a:t>Define</a:t>
                      </a:r>
                    </a:p>
                  </a:txBody>
                  <a:tcPr marL="0" marR="152717" marT="114617" marB="114617"/>
                </a:tc>
                <a:tc>
                  <a:txBody>
                    <a:bodyPr/>
                    <a:lstStyle/>
                    <a:p>
                      <a:pPr fontAlgn="t">
                        <a:lnSpc>
                          <a:spcPts val="1650"/>
                        </a:lnSpc>
                      </a:pPr>
                      <a:r>
                        <a:rPr sz="1200">
                          <a:latin typeface="Arial" panose="020B0604020202020204" pitchFamily="34" charset="0"/>
                          <a:cs typeface="Arial" panose="020B0604020202020204" pitchFamily="34" charset="0"/>
                        </a:rPr>
                        <a:t>Identify the core problem and customer requirements (Critical-To-Quality metrics).</a:t>
                      </a:r>
                    </a:p>
                  </a:txBody>
                  <a:tcPr marL="0" marR="152717" marT="114617" marB="114617"/>
                </a:tc>
                <a:tc>
                  <a:txBody>
                    <a:bodyPr/>
                    <a:lstStyle/>
                    <a:p>
                      <a:pPr fontAlgn="t">
                        <a:lnSpc>
                          <a:spcPts val="1650"/>
                        </a:lnSpc>
                      </a:pPr>
                      <a:r>
                        <a:rPr sz="1200">
                          <a:latin typeface="Arial" panose="020B0604020202020204" pitchFamily="34" charset="0"/>
                          <a:cs typeface="Arial" panose="020B0604020202020204" pitchFamily="34" charset="0"/>
                        </a:rPr>
                        <a:t>The team defines the defect as "late delivery" (delivery time exceeding the average by more than 10%). The customer expectation is delivery within a certain time window (e.g., 30 minutes).</a:t>
                      </a:r>
                    </a:p>
                  </a:txBody>
                  <a:tcPr marL="0" marR="0" marT="114617" marB="114617"/>
                </a:tc>
                <a:extLst>
                  <a:ext uri="{0D108BD9-81ED-4DB2-BD59-A6C34878D82A}">
                    <a16:rowId xmlns:a16="http://schemas.microsoft.com/office/drawing/2014/main" val="10000"/>
                  </a:ext>
                </a:extLst>
              </a:tr>
              <a:tr h="1104900">
                <a:tc>
                  <a:txBody>
                    <a:bodyPr/>
                    <a:lstStyle/>
                    <a:p>
                      <a:pPr fontAlgn="t">
                        <a:lnSpc>
                          <a:spcPts val="1650"/>
                        </a:lnSpc>
                      </a:pPr>
                      <a:r>
                        <a:rPr sz="1200" b="1">
                          <a:latin typeface="Arial" panose="020B0604020202020204" pitchFamily="34" charset="0"/>
                          <a:cs typeface="Arial" panose="020B0604020202020204" pitchFamily="34" charset="0"/>
                        </a:rPr>
                        <a:t>Measure</a:t>
                      </a:r>
                    </a:p>
                  </a:txBody>
                  <a:tcPr marL="0" marR="152717" marT="114617" marB="114617"/>
                </a:tc>
                <a:tc>
                  <a:txBody>
                    <a:bodyPr/>
                    <a:lstStyle/>
                    <a:p>
                      <a:pPr fontAlgn="t">
                        <a:lnSpc>
                          <a:spcPts val="1650"/>
                        </a:lnSpc>
                      </a:pPr>
                      <a:r>
                        <a:rPr sz="1200">
                          <a:latin typeface="Arial" panose="020B0604020202020204" pitchFamily="34" charset="0"/>
                          <a:cs typeface="Arial" panose="020B0604020202020204" pitchFamily="34" charset="0"/>
                        </a:rPr>
                        <a:t>Collect data on current delivery performance to establish a baseline.</a:t>
                      </a:r>
                    </a:p>
                  </a:txBody>
                  <a:tcPr marL="0" marR="152717" marT="114617" marB="114617"/>
                </a:tc>
                <a:tc>
                  <a:txBody>
                    <a:bodyPr/>
                    <a:lstStyle/>
                    <a:p>
                      <a:pPr fontAlgn="t">
                        <a:lnSpc>
                          <a:spcPts val="1650"/>
                        </a:lnSpc>
                      </a:pPr>
                      <a:r>
                        <a:rPr sz="1200">
                          <a:latin typeface="Arial" panose="020B0604020202020204" pitchFamily="34" charset="0"/>
                          <a:cs typeface="Arial" panose="020B0604020202020204" pitchFamily="34" charset="0"/>
                        </a:rPr>
                        <a:t>The team collects data on delivery times, loading times, traffic conditions, and the number of late deliveries. They might find that 50% of complaints are related to late delivery, and the current process is at a low Sigma level.</a:t>
                      </a:r>
                    </a:p>
                  </a:txBody>
                  <a:tcPr marL="0" marR="0" marT="114617" marB="114617"/>
                </a:tc>
                <a:extLst>
                  <a:ext uri="{0D108BD9-81ED-4DB2-BD59-A6C34878D82A}">
                    <a16:rowId xmlns:a16="http://schemas.microsoft.com/office/drawing/2014/main" val="10001"/>
                  </a:ext>
                </a:extLst>
              </a:tr>
              <a:tr h="743585">
                <a:tc>
                  <a:txBody>
                    <a:bodyPr/>
                    <a:lstStyle/>
                    <a:p>
                      <a:pPr fontAlgn="t">
                        <a:lnSpc>
                          <a:spcPts val="1650"/>
                        </a:lnSpc>
                      </a:pPr>
                      <a:r>
                        <a:rPr sz="1200" b="1">
                          <a:latin typeface="Arial" panose="020B0604020202020204" pitchFamily="34" charset="0"/>
                          <a:cs typeface="Arial" panose="020B0604020202020204" pitchFamily="34" charset="0"/>
                        </a:rPr>
                        <a:t>Analyze</a:t>
                      </a:r>
                    </a:p>
                  </a:txBody>
                  <a:tcPr marL="0" marR="152717" marT="114617" marB="114617"/>
                </a:tc>
                <a:tc>
                  <a:txBody>
                    <a:bodyPr/>
                    <a:lstStyle/>
                    <a:p>
                      <a:pPr fontAlgn="t">
                        <a:lnSpc>
                          <a:spcPts val="1650"/>
                        </a:lnSpc>
                      </a:pPr>
                      <a:r>
                        <a:rPr sz="1200">
                          <a:latin typeface="Arial" panose="020B0604020202020204" pitchFamily="34" charset="0"/>
                          <a:cs typeface="Arial" panose="020B0604020202020204" pitchFamily="34" charset="0"/>
                        </a:rPr>
                        <a:t>Analyze the data to determine the root causes of delays.</a:t>
                      </a:r>
                    </a:p>
                  </a:txBody>
                  <a:tcPr marL="0" marR="152717" marT="114617" marB="114617"/>
                </a:tc>
                <a:tc>
                  <a:txBody>
                    <a:bodyPr/>
                    <a:lstStyle/>
                    <a:p>
                      <a:pPr fontAlgn="t">
                        <a:lnSpc>
                          <a:spcPts val="1650"/>
                        </a:lnSpc>
                      </a:pPr>
                      <a:r>
                        <a:rPr sz="1200">
                          <a:latin typeface="Arial" panose="020B0604020202020204" pitchFamily="34" charset="0"/>
                          <a:cs typeface="Arial" panose="020B0604020202020204" pitchFamily="34" charset="0"/>
                        </a:rPr>
                        <a:t>Tools like Pareto charts and fishbone diagrams are used. Root causes are identified as poor warehouse layout, inefficient picking and loading methods, and staff shortages during peak hours.</a:t>
                      </a:r>
                    </a:p>
                  </a:txBody>
                  <a:tcPr marL="0" marR="0" marT="114617" marB="114617"/>
                </a:tc>
                <a:extLst>
                  <a:ext uri="{0D108BD9-81ED-4DB2-BD59-A6C34878D82A}">
                    <a16:rowId xmlns:a16="http://schemas.microsoft.com/office/drawing/2014/main" val="10002"/>
                  </a:ext>
                </a:extLst>
              </a:tr>
              <a:tr h="758825">
                <a:tc>
                  <a:txBody>
                    <a:bodyPr/>
                    <a:lstStyle/>
                    <a:p>
                      <a:pPr fontAlgn="t">
                        <a:lnSpc>
                          <a:spcPts val="1650"/>
                        </a:lnSpc>
                      </a:pPr>
                      <a:r>
                        <a:rPr sz="1200" b="1">
                          <a:latin typeface="Arial" panose="020B0604020202020204" pitchFamily="34" charset="0"/>
                          <a:cs typeface="Arial" panose="020B0604020202020204" pitchFamily="34" charset="0"/>
                        </a:rPr>
                        <a:t>Improve</a:t>
                      </a:r>
                    </a:p>
                  </a:txBody>
                  <a:tcPr marL="0" marR="152717" marT="114617" marB="114617"/>
                </a:tc>
                <a:tc>
                  <a:txBody>
                    <a:bodyPr/>
                    <a:lstStyle/>
                    <a:p>
                      <a:pPr fontAlgn="t">
                        <a:lnSpc>
                          <a:spcPts val="1650"/>
                        </a:lnSpc>
                      </a:pPr>
                      <a:r>
                        <a:rPr sz="1200">
                          <a:latin typeface="Arial" panose="020B0604020202020204" pitchFamily="34" charset="0"/>
                          <a:cs typeface="Arial" panose="020B0604020202020204" pitchFamily="34" charset="0"/>
                        </a:rPr>
                        <a:t>Develop and implement solutions to address the root causes.</a:t>
                      </a:r>
                    </a:p>
                  </a:txBody>
                  <a:tcPr marL="0" marR="152717" marT="114617" marB="114617"/>
                </a:tc>
                <a:tc>
                  <a:txBody>
                    <a:bodyPr/>
                    <a:lstStyle/>
                    <a:p>
                      <a:pPr fontAlgn="t">
                        <a:lnSpc>
                          <a:spcPts val="1650"/>
                        </a:lnSpc>
                      </a:pPr>
                      <a:r>
                        <a:rPr sz="1200">
                          <a:latin typeface="Arial" panose="020B0604020202020204" pitchFamily="34" charset="0"/>
                          <a:cs typeface="Arial" panose="020B0604020202020204" pitchFamily="34" charset="0"/>
                        </a:rPr>
                        <a:t>Solutions might include redesigning the picking area for fast-moving items closer to the loading bay, implementing a "trolley picking" system, and adjusting staff schedules.</a:t>
                      </a:r>
                    </a:p>
                  </a:txBody>
                  <a:tcPr marL="0" marR="0" marT="114617" marB="114617"/>
                </a:tc>
                <a:extLst>
                  <a:ext uri="{0D108BD9-81ED-4DB2-BD59-A6C34878D82A}">
                    <a16:rowId xmlns:a16="http://schemas.microsoft.com/office/drawing/2014/main" val="10003"/>
                  </a:ext>
                </a:extLst>
              </a:tr>
              <a:tr h="1135380">
                <a:tc>
                  <a:txBody>
                    <a:bodyPr/>
                    <a:lstStyle/>
                    <a:p>
                      <a:pPr fontAlgn="t">
                        <a:lnSpc>
                          <a:spcPts val="1650"/>
                        </a:lnSpc>
                      </a:pPr>
                      <a:r>
                        <a:rPr sz="1200" b="1">
                          <a:latin typeface="Arial" panose="020B0604020202020204" pitchFamily="34" charset="0"/>
                          <a:cs typeface="Arial" panose="020B0604020202020204" pitchFamily="34" charset="0"/>
                        </a:rPr>
                        <a:t>Control</a:t>
                      </a:r>
                    </a:p>
                  </a:txBody>
                  <a:tcPr marL="0" marR="152717" marT="114617" marB="114617"/>
                </a:tc>
                <a:tc>
                  <a:txBody>
                    <a:bodyPr/>
                    <a:lstStyle/>
                    <a:p>
                      <a:pPr fontAlgn="t">
                        <a:lnSpc>
                          <a:spcPts val="1650"/>
                        </a:lnSpc>
                      </a:pPr>
                      <a:r>
                        <a:rPr sz="1200">
                          <a:latin typeface="Arial" panose="020B0604020202020204" pitchFamily="34" charset="0"/>
                          <a:cs typeface="Arial" panose="020B0604020202020204" pitchFamily="34" charset="0"/>
                        </a:rPr>
                        <a:t>Establish controls to ensure the improvements are sustained over time.</a:t>
                      </a:r>
                    </a:p>
                  </a:txBody>
                  <a:tcPr marL="0" marR="152717" marT="114617" marB="114617"/>
                </a:tc>
                <a:tc>
                  <a:txBody>
                    <a:bodyPr/>
                    <a:lstStyle/>
                    <a:p>
                      <a:pPr fontAlgn="t">
                        <a:lnSpc>
                          <a:spcPts val="1650"/>
                        </a:lnSpc>
                      </a:pPr>
                      <a:r>
                        <a:rPr sz="1200">
                          <a:latin typeface="Arial" panose="020B0604020202020204" pitchFamily="34" charset="0"/>
                          <a:cs typeface="Arial" panose="020B0604020202020204" pitchFamily="34" charset="0"/>
                        </a:rPr>
                        <a:t>The company implements a monitoring system for loading times and customer feedback. Regular audits and performance dashboards are used to maintain the new, faster process and ensure the defect rate remains low.</a:t>
                      </a:r>
                    </a:p>
                  </a:txBody>
                  <a:tcPr marL="0" marR="0" marT="114617" marB="114617"/>
                </a:tc>
                <a:extLst>
                  <a:ext uri="{0D108BD9-81ED-4DB2-BD59-A6C34878D82A}">
                    <a16:rowId xmlns:a16="http://schemas.microsoft.com/office/drawing/2014/main" val="10004"/>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Example of Six Sigma for New System</a:t>
            </a:r>
          </a:p>
        </p:txBody>
      </p:sp>
      <p:sp>
        <p:nvSpPr>
          <p:cNvPr id="3" name="Content Placeholder 2"/>
          <p:cNvSpPr>
            <a:spLocks noGrp="1"/>
          </p:cNvSpPr>
          <p:nvPr>
            <p:ph idx="1"/>
          </p:nvPr>
        </p:nvSpPr>
        <p:spPr/>
        <p:txBody>
          <a:bodyPr/>
          <a:lstStyle/>
          <a:p>
            <a:pPr algn="just"/>
            <a:r>
              <a:rPr lang="en-US" altLang="en-US"/>
              <a:t>When developing a new online food ordering system, the Six Sigma methodology known as DMADV (Define, Measure, Analyze, Design, Verify) is used to ensure quality and customer requirements are met from the ground up, proactively preventing defects.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p:nvPr>
            <p:custDataLst>
              <p:tags r:id="rId1"/>
            </p:custDataLst>
          </p:nvPr>
        </p:nvGraphicFramePr>
        <p:xfrm>
          <a:off x="676910" y="375920"/>
          <a:ext cx="7221855" cy="6759570"/>
        </p:xfrm>
        <a:graphic>
          <a:graphicData uri="http://schemas.openxmlformats.org/drawingml/2006/table">
            <a:tbl>
              <a:tblPr>
                <a:tableStyleId>{E8B1032C-EA38-4F05-BA0D-38AFFFC7BED3}</a:tableStyleId>
              </a:tblPr>
              <a:tblGrid>
                <a:gridCol w="1125220">
                  <a:extLst>
                    <a:ext uri="{9D8B030D-6E8A-4147-A177-3AD203B41FA5}">
                      <a16:colId xmlns:a16="http://schemas.microsoft.com/office/drawing/2014/main" val="20000"/>
                    </a:ext>
                  </a:extLst>
                </a:gridCol>
                <a:gridCol w="2675890">
                  <a:extLst>
                    <a:ext uri="{9D8B030D-6E8A-4147-A177-3AD203B41FA5}">
                      <a16:colId xmlns:a16="http://schemas.microsoft.com/office/drawing/2014/main" val="20001"/>
                    </a:ext>
                  </a:extLst>
                </a:gridCol>
                <a:gridCol w="3420745">
                  <a:extLst>
                    <a:ext uri="{9D8B030D-6E8A-4147-A177-3AD203B41FA5}">
                      <a16:colId xmlns:a16="http://schemas.microsoft.com/office/drawing/2014/main" val="20002"/>
                    </a:ext>
                  </a:extLst>
                </a:gridCol>
              </a:tblGrid>
              <a:tr h="1485900">
                <a:tc>
                  <a:txBody>
                    <a:bodyPr/>
                    <a:lstStyle/>
                    <a:p>
                      <a:pPr fontAlgn="t">
                        <a:lnSpc>
                          <a:spcPts val="1650"/>
                        </a:lnSpc>
                      </a:pPr>
                      <a:r>
                        <a:rPr sz="1200" b="1">
                          <a:latin typeface="Arial" panose="020B0604020202020204" pitchFamily="34" charset="0"/>
                          <a:cs typeface="Arial" panose="020B0604020202020204" pitchFamily="34" charset="0"/>
                        </a:rPr>
                        <a:t>Define</a:t>
                      </a:r>
                    </a:p>
                  </a:txBody>
                  <a:tcPr marL="0" marR="152717" marT="114617" marB="114617"/>
                </a:tc>
                <a:tc>
                  <a:txBody>
                    <a:bodyPr/>
                    <a:lstStyle/>
                    <a:p>
                      <a:pPr fontAlgn="t">
                        <a:lnSpc>
                          <a:spcPts val="1650"/>
                        </a:lnSpc>
                      </a:pPr>
                      <a:r>
                        <a:rPr sz="1200">
                          <a:latin typeface="Arial" panose="020B0604020202020204" pitchFamily="34" charset="0"/>
                          <a:cs typeface="Arial" panose="020B0604020202020204" pitchFamily="34" charset="0"/>
                        </a:rPr>
                        <a:t>Identify the purpose, project goals, and customer needs (Voice of the Customer or VOC).</a:t>
                      </a:r>
                    </a:p>
                  </a:txBody>
                  <a:tcPr marL="0" marR="152717" marT="114617" marB="114617"/>
                </a:tc>
                <a:tc>
                  <a:txBody>
                    <a:bodyPr/>
                    <a:lstStyle/>
                    <a:p>
                      <a:pPr fontAlgn="t">
                        <a:lnSpc>
                          <a:spcPts val="1650"/>
                        </a:lnSpc>
                      </a:pPr>
                      <a:r>
                        <a:rPr sz="1200">
                          <a:latin typeface="Arial" panose="020B0604020202020204" pitchFamily="34" charset="0"/>
                          <a:cs typeface="Arial" panose="020B0604020202020204" pitchFamily="34" charset="0"/>
                        </a:rPr>
                        <a:t>The project team defines the system's goals: "To create a seamless online food ordering experience for university students, reducing wait times at food counters, ensuring order accuracy, and offering diverse menu options". They collect VOC through surveys and interviews to understand specific needs like preferred payment methods, dietary filters, and order tracking.</a:t>
                      </a:r>
                    </a:p>
                  </a:txBody>
                  <a:tcPr marL="0" marR="0" marT="114617" marB="114617"/>
                </a:tc>
                <a:extLst>
                  <a:ext uri="{0D108BD9-81ED-4DB2-BD59-A6C34878D82A}">
                    <a16:rowId xmlns:a16="http://schemas.microsoft.com/office/drawing/2014/main" val="10000"/>
                  </a:ext>
                </a:extLst>
              </a:tr>
              <a:tr h="1066800">
                <a:tc>
                  <a:txBody>
                    <a:bodyPr/>
                    <a:lstStyle/>
                    <a:p>
                      <a:pPr fontAlgn="t">
                        <a:lnSpc>
                          <a:spcPts val="1650"/>
                        </a:lnSpc>
                      </a:pPr>
                      <a:r>
                        <a:rPr sz="1200" b="1">
                          <a:latin typeface="Arial" panose="020B0604020202020204" pitchFamily="34" charset="0"/>
                          <a:cs typeface="Arial" panose="020B0604020202020204" pitchFamily="34" charset="0"/>
                        </a:rPr>
                        <a:t>Measure</a:t>
                      </a:r>
                    </a:p>
                  </a:txBody>
                  <a:tcPr marL="0" marR="152717" marT="114617" marB="114617"/>
                </a:tc>
                <a:tc>
                  <a:txBody>
                    <a:bodyPr/>
                    <a:lstStyle/>
                    <a:p>
                      <a:pPr fontAlgn="t">
                        <a:lnSpc>
                          <a:spcPts val="1650"/>
                        </a:lnSpc>
                      </a:pPr>
                      <a:r>
                        <a:rPr sz="1200">
                          <a:latin typeface="Arial" panose="020B0604020202020204" pitchFamily="34" charset="0"/>
                          <a:cs typeface="Arial" panose="020B0604020202020204" pitchFamily="34" charset="0"/>
                        </a:rPr>
                        <a:t>Quantify customer needs into measurable Critical-to-Quality (CTQ) characteristics and assess production capabilities and risks.</a:t>
                      </a:r>
                    </a:p>
                  </a:txBody>
                  <a:tcPr marL="0" marR="152717" marT="114617" marB="114617"/>
                </a:tc>
                <a:tc>
                  <a:txBody>
                    <a:bodyPr/>
                    <a:lstStyle/>
                    <a:p>
                      <a:pPr fontAlgn="t">
                        <a:lnSpc>
                          <a:spcPts val="1650"/>
                        </a:lnSpc>
                      </a:pPr>
                      <a:r>
                        <a:rPr sz="1200">
                          <a:latin typeface="Arial" panose="020B0604020202020204" pitchFamily="34" charset="0"/>
                          <a:cs typeface="Arial" panose="020B0604020202020204" pitchFamily="34" charset="0"/>
                        </a:rPr>
                        <a:t>The team translates VOC into metrics:</a:t>
                      </a:r>
                      <a:br>
                        <a:rPr sz="1200">
                          <a:latin typeface="Arial" panose="020B0604020202020204" pitchFamily="34" charset="0"/>
                          <a:cs typeface="Arial" panose="020B0604020202020204" pitchFamily="34" charset="0"/>
                        </a:rPr>
                      </a:br>
                      <a:r>
                        <a:rPr sz="1200">
                          <a:latin typeface="Arial" panose="020B0604020202020204" pitchFamily="34" charset="0"/>
                          <a:cs typeface="Arial" panose="020B0604020202020204" pitchFamily="34" charset="0"/>
                        </a:rPr>
                        <a:t>* Maximum wait time: 10 minutes (CTQ)</a:t>
                      </a:r>
                      <a:br>
                        <a:rPr sz="1200">
                          <a:latin typeface="Arial" panose="020B0604020202020204" pitchFamily="34" charset="0"/>
                          <a:cs typeface="Arial" panose="020B0604020202020204" pitchFamily="34" charset="0"/>
                        </a:rPr>
                      </a:br>
                      <a:r>
                        <a:rPr sz="1200">
                          <a:latin typeface="Arial" panose="020B0604020202020204" pitchFamily="34" charset="0"/>
                          <a:cs typeface="Arial" panose="020B0604020202020204" pitchFamily="34" charset="0"/>
                        </a:rPr>
                        <a:t>* Order accuracy: 99.9% (CTQ)</a:t>
                      </a:r>
                      <a:br>
                        <a:rPr sz="1200">
                          <a:latin typeface="Arial" panose="020B0604020202020204" pitchFamily="34" charset="0"/>
                          <a:cs typeface="Arial" panose="020B0604020202020204" pitchFamily="34" charset="0"/>
                        </a:rPr>
                      </a:br>
                      <a:r>
                        <a:rPr sz="1200">
                          <a:latin typeface="Arial" panose="020B0604020202020204" pitchFamily="34" charset="0"/>
                          <a:cs typeface="Arial" panose="020B0604020202020204" pitchFamily="34" charset="0"/>
                        </a:rPr>
                        <a:t>* System uptime: 99.99%.</a:t>
                      </a:r>
                    </a:p>
                  </a:txBody>
                  <a:tcPr marL="0" marR="0" marT="114617" marB="114617"/>
                </a:tc>
                <a:extLst>
                  <a:ext uri="{0D108BD9-81ED-4DB2-BD59-A6C34878D82A}">
                    <a16:rowId xmlns:a16="http://schemas.microsoft.com/office/drawing/2014/main" val="10001"/>
                  </a:ext>
                </a:extLst>
              </a:tr>
              <a:tr h="858520">
                <a:tc>
                  <a:txBody>
                    <a:bodyPr/>
                    <a:lstStyle/>
                    <a:p>
                      <a:pPr fontAlgn="t">
                        <a:lnSpc>
                          <a:spcPts val="1650"/>
                        </a:lnSpc>
                      </a:pPr>
                      <a:r>
                        <a:rPr sz="1200" b="1">
                          <a:latin typeface="Arial" panose="020B0604020202020204" pitchFamily="34" charset="0"/>
                          <a:cs typeface="Arial" panose="020B0604020202020204" pitchFamily="34" charset="0"/>
                        </a:rPr>
                        <a:t>Analyze</a:t>
                      </a:r>
                    </a:p>
                  </a:txBody>
                  <a:tcPr marL="0" marR="152717" marT="114617" marB="114617"/>
                </a:tc>
                <a:tc>
                  <a:txBody>
                    <a:bodyPr/>
                    <a:lstStyle/>
                    <a:p>
                      <a:pPr fontAlgn="t">
                        <a:lnSpc>
                          <a:spcPts val="1650"/>
                        </a:lnSpc>
                      </a:pPr>
                      <a:r>
                        <a:rPr sz="1200">
                          <a:latin typeface="Arial" panose="020B0604020202020204" pitchFamily="34" charset="0"/>
                          <a:cs typeface="Arial" panose="020B0604020202020204" pitchFamily="34" charset="0"/>
                        </a:rPr>
                        <a:t>Analyze data to develop and evaluate design alternatives and conceptual designs.</a:t>
                      </a:r>
                    </a:p>
                  </a:txBody>
                  <a:tcPr marL="0" marR="152717" marT="114617" marB="114617"/>
                </a:tc>
                <a:tc>
                  <a:txBody>
                    <a:bodyPr/>
                    <a:lstStyle/>
                    <a:p>
                      <a:pPr fontAlgn="t">
                        <a:lnSpc>
                          <a:spcPts val="1650"/>
                        </a:lnSpc>
                      </a:pPr>
                      <a:r>
                        <a:rPr sz="1200">
                          <a:latin typeface="Arial" panose="020B0604020202020204" pitchFamily="34" charset="0"/>
                          <a:cs typeface="Arial" panose="020B0604020202020204" pitchFamily="34" charset="0"/>
                        </a:rPr>
                        <a:t>The team analyzes options for system architecture, database design, and user interface (UI). They </a:t>
                      </a:r>
                      <a:r>
                        <a:rPr lang="en-US" sz="1200">
                          <a:latin typeface="Arial" panose="020B0604020202020204" pitchFamily="34" charset="0"/>
                          <a:cs typeface="Arial" panose="020B0604020202020204" pitchFamily="34" charset="0"/>
                        </a:rPr>
                        <a:t> set  priority and </a:t>
                      </a:r>
                      <a:r>
                        <a:rPr sz="1200">
                          <a:latin typeface="Arial" panose="020B0604020202020204" pitchFamily="34" charset="0"/>
                          <a:cs typeface="Arial" panose="020B0604020202020204" pitchFamily="34" charset="0"/>
                        </a:rPr>
                        <a:t>evaluate alternatives based on cost, risk, and how well they meet the CTQs. </a:t>
                      </a:r>
                    </a:p>
                  </a:txBody>
                  <a:tcPr marL="0" marR="0" marT="114617" marB="114617"/>
                </a:tc>
                <a:extLst>
                  <a:ext uri="{0D108BD9-81ED-4DB2-BD59-A6C34878D82A}">
                    <a16:rowId xmlns:a16="http://schemas.microsoft.com/office/drawing/2014/main" val="10002"/>
                  </a:ext>
                </a:extLst>
              </a:tr>
              <a:tr h="709930">
                <a:tc>
                  <a:txBody>
                    <a:bodyPr/>
                    <a:lstStyle/>
                    <a:p>
                      <a:pPr fontAlgn="t">
                        <a:lnSpc>
                          <a:spcPts val="1650"/>
                        </a:lnSpc>
                      </a:pPr>
                      <a:r>
                        <a:rPr sz="1200" b="1">
                          <a:latin typeface="Arial" panose="020B0604020202020204" pitchFamily="34" charset="0"/>
                          <a:cs typeface="Arial" panose="020B0604020202020204" pitchFamily="34" charset="0"/>
                        </a:rPr>
                        <a:t>Design</a:t>
                      </a:r>
                    </a:p>
                  </a:txBody>
                  <a:tcPr marL="0" marR="152717" marT="114617" marB="114617"/>
                </a:tc>
                <a:tc>
                  <a:txBody>
                    <a:bodyPr/>
                    <a:lstStyle/>
                    <a:p>
                      <a:pPr fontAlgn="t">
                        <a:lnSpc>
                          <a:spcPts val="1650"/>
                        </a:lnSpc>
                      </a:pPr>
                      <a:r>
                        <a:rPr sz="1200">
                          <a:latin typeface="Arial" panose="020B0604020202020204" pitchFamily="34" charset="0"/>
                          <a:cs typeface="Arial" panose="020B0604020202020204" pitchFamily="34" charset="0"/>
                        </a:rPr>
                        <a:t>Develop the detailed design and a prototype for the selected solution.</a:t>
                      </a:r>
                    </a:p>
                  </a:txBody>
                  <a:tcPr marL="0" marR="152717" marT="114617" marB="114617"/>
                </a:tc>
                <a:tc>
                  <a:txBody>
                    <a:bodyPr/>
                    <a:lstStyle/>
                    <a:p>
                      <a:pPr fontAlgn="t">
                        <a:lnSpc>
                          <a:spcPts val="1650"/>
                        </a:lnSpc>
                      </a:pPr>
                      <a:r>
                        <a:rPr sz="1200">
                          <a:latin typeface="Arial" panose="020B0604020202020204" pitchFamily="34" charset="0"/>
                          <a:cs typeface="Arial" panose="020B0604020202020204" pitchFamily="34" charset="0"/>
                        </a:rPr>
                        <a:t>A detailed design for the web/mobile interface, backend logic, and payment integration is created. A prototype is built</a:t>
                      </a:r>
                      <a:r>
                        <a:rPr lang="en-US" sz="1200">
                          <a:latin typeface="Arial" panose="020B0604020202020204" pitchFamily="34" charset="0"/>
                          <a:cs typeface="Arial" panose="020B0604020202020204" pitchFamily="34" charset="0"/>
                        </a:rPr>
                        <a:t>.</a:t>
                      </a:r>
                    </a:p>
                  </a:txBody>
                  <a:tcPr marL="0" marR="0" marT="114617" marB="114617"/>
                </a:tc>
                <a:extLst>
                  <a:ext uri="{0D108BD9-81ED-4DB2-BD59-A6C34878D82A}">
                    <a16:rowId xmlns:a16="http://schemas.microsoft.com/office/drawing/2014/main" val="10003"/>
                  </a:ext>
                </a:extLst>
              </a:tr>
              <a:tr h="1485900">
                <a:tc>
                  <a:txBody>
                    <a:bodyPr/>
                    <a:lstStyle/>
                    <a:p>
                      <a:pPr fontAlgn="t">
                        <a:lnSpc>
                          <a:spcPts val="1650"/>
                        </a:lnSpc>
                      </a:pPr>
                      <a:r>
                        <a:rPr sz="1200" b="1">
                          <a:latin typeface="Arial" panose="020B0604020202020204" pitchFamily="34" charset="0"/>
                          <a:cs typeface="Arial" panose="020B0604020202020204" pitchFamily="34" charset="0"/>
                        </a:rPr>
                        <a:t>Verify</a:t>
                      </a:r>
                    </a:p>
                  </a:txBody>
                  <a:tcPr marL="0" marR="152717" marT="114617" marB="114617"/>
                </a:tc>
                <a:tc>
                  <a:txBody>
                    <a:bodyPr/>
                    <a:lstStyle/>
                    <a:p>
                      <a:pPr fontAlgn="t">
                        <a:lnSpc>
                          <a:spcPts val="1650"/>
                        </a:lnSpc>
                      </a:pPr>
                      <a:r>
                        <a:rPr sz="1200">
                          <a:latin typeface="Arial" panose="020B0604020202020204" pitchFamily="34" charset="0"/>
                          <a:cs typeface="Arial" panose="020B0604020202020204" pitchFamily="34" charset="0"/>
                        </a:rPr>
                        <a:t>Validate the design through pilot runs and full production to ensure it meets all requirements and performs satisfactorily in the real environment.</a:t>
                      </a:r>
                    </a:p>
                  </a:txBody>
                  <a:tcPr marL="0" marR="152717" marT="114617" marB="114617"/>
                </a:tc>
                <a:tc>
                  <a:txBody>
                    <a:bodyPr/>
                    <a:lstStyle/>
                    <a:p>
                      <a:pPr fontAlgn="t">
                        <a:lnSpc>
                          <a:spcPts val="1650"/>
                        </a:lnSpc>
                      </a:pPr>
                      <a:r>
                        <a:rPr sz="1200">
                          <a:latin typeface="Arial" panose="020B0604020202020204" pitchFamily="34" charset="0"/>
                          <a:cs typeface="Arial" panose="020B0604020202020204" pitchFamily="34" charset="0"/>
                        </a:rPr>
                        <a:t>The full system undergoes extensive testing. Performance dashboards and customer feedback mechanisms are implemented to monitor real-time performance. The team ensures the system is stable, scalable, and the initial CTQ targets are met. </a:t>
                      </a:r>
                    </a:p>
                  </a:txBody>
                  <a:tcPr marL="0" marR="0" marT="114617" marB="114617"/>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a:t>W5HH Principles</a:t>
            </a:r>
          </a:p>
        </p:txBody>
      </p:sp>
      <p:sp>
        <p:nvSpPr>
          <p:cNvPr id="3" name="Content Placeholder 2"/>
          <p:cNvSpPr>
            <a:spLocks noGrp="1"/>
          </p:cNvSpPr>
          <p:nvPr>
            <p:ph idx="1"/>
          </p:nvPr>
        </p:nvSpPr>
        <p:spPr/>
        <p:txBody>
          <a:bodyPr/>
          <a:lstStyle/>
          <a:p>
            <a:pPr algn="just"/>
            <a:r>
              <a:rPr lang="en-US" altLang="en-US" dirty="0"/>
              <a:t>The W5HH principle is a project planning and management approach proposed by Barry Boehm, aimed at addressing the key questions that should be answered before starting any software project. </a:t>
            </a:r>
          </a:p>
          <a:p>
            <a:pPr algn="just"/>
            <a:r>
              <a:rPr lang="en-US" altLang="en-US" dirty="0"/>
              <a:t>W5HH principle: A series of questions that lead to a definition of Project Scope.</a:t>
            </a:r>
          </a:p>
          <a:p>
            <a:pPr algn="just"/>
            <a:endParaRPr lang="en-US"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custDataLst>
              <p:tags r:id="rId1"/>
            </p:custDataLst>
          </p:nvPr>
        </p:nvGraphicFramePr>
        <p:xfrm>
          <a:off x="535940" y="878840"/>
          <a:ext cx="7967980" cy="5327650"/>
        </p:xfrm>
        <a:graphic>
          <a:graphicData uri="http://schemas.openxmlformats.org/drawingml/2006/table">
            <a:tbl>
              <a:tblPr/>
              <a:tblGrid>
                <a:gridCol w="1544955">
                  <a:extLst>
                    <a:ext uri="{9D8B030D-6E8A-4147-A177-3AD203B41FA5}">
                      <a16:colId xmlns:a16="http://schemas.microsoft.com/office/drawing/2014/main" val="20000"/>
                    </a:ext>
                  </a:extLst>
                </a:gridCol>
                <a:gridCol w="1946910">
                  <a:extLst>
                    <a:ext uri="{9D8B030D-6E8A-4147-A177-3AD203B41FA5}">
                      <a16:colId xmlns:a16="http://schemas.microsoft.com/office/drawing/2014/main" val="20001"/>
                    </a:ext>
                  </a:extLst>
                </a:gridCol>
                <a:gridCol w="2200910">
                  <a:extLst>
                    <a:ext uri="{9D8B030D-6E8A-4147-A177-3AD203B41FA5}">
                      <a16:colId xmlns:a16="http://schemas.microsoft.com/office/drawing/2014/main" val="20002"/>
                    </a:ext>
                  </a:extLst>
                </a:gridCol>
                <a:gridCol w="2275205">
                  <a:extLst>
                    <a:ext uri="{9D8B030D-6E8A-4147-A177-3AD203B41FA5}">
                      <a16:colId xmlns:a16="http://schemas.microsoft.com/office/drawing/2014/main" val="20003"/>
                    </a:ext>
                  </a:extLst>
                </a:gridCol>
              </a:tblGrid>
              <a:tr h="238125">
                <a:tc>
                  <a:txBody>
                    <a:bodyPr/>
                    <a:lstStyle/>
                    <a:p>
                      <a:pPr marL="40005" indent="0" algn="ctr">
                        <a:spcBef>
                          <a:spcPct val="0"/>
                        </a:spcBef>
                        <a:spcAft>
                          <a:spcPct val="0"/>
                        </a:spcAft>
                      </a:pPr>
                      <a:r>
                        <a:rPr sz="1400" b="1">
                          <a:solidFill>
                            <a:srgbClr val="000000"/>
                          </a:solidFill>
                          <a:latin typeface="Arial" panose="020B0604020202020204" pitchFamily="34" charset="0"/>
                          <a:ea typeface="SimSun" panose="02010600030101010101" pitchFamily="2" charset="-122"/>
                          <a:cs typeface="Arial" panose="020B0604020202020204" pitchFamily="34" charset="0"/>
                        </a:rPr>
                        <a:t>Principle</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2700" cap="flat" cmpd="sng">
                      <a:solidFill>
                        <a:srgbClr val="4F81BD"/>
                      </a:solidFill>
                      <a:prstDash val="solid"/>
                      <a:headEnd type="none" w="med" len="med"/>
                      <a:tailEnd type="none" w="med" len="med"/>
                    </a:lnT>
                    <a:lnB w="19050" cap="flat" cmpd="sng">
                      <a:solidFill>
                        <a:srgbClr val="4F81BD"/>
                      </a:solidFill>
                      <a:prstDash val="solid"/>
                      <a:headEnd type="none" w="med" len="med"/>
                      <a:tailEnd type="none" w="med" len="med"/>
                    </a:lnB>
                    <a:solidFill>
                      <a:srgbClr val="FFFFFF"/>
                    </a:solidFill>
                  </a:tcPr>
                </a:tc>
                <a:tc>
                  <a:txBody>
                    <a:bodyPr/>
                    <a:lstStyle/>
                    <a:p>
                      <a:pPr marL="40005" indent="0" algn="ctr">
                        <a:spcBef>
                          <a:spcPct val="0"/>
                        </a:spcBef>
                        <a:spcAft>
                          <a:spcPct val="0"/>
                        </a:spcAft>
                      </a:pPr>
                      <a:r>
                        <a:rPr sz="1400" b="1">
                          <a:solidFill>
                            <a:srgbClr val="000000"/>
                          </a:solidFill>
                          <a:latin typeface="Arial" panose="020B0604020202020204" pitchFamily="34" charset="0"/>
                          <a:ea typeface="SimSun" panose="02010600030101010101" pitchFamily="2" charset="-122"/>
                          <a:cs typeface="Arial" panose="020B0604020202020204" pitchFamily="34" charset="0"/>
                        </a:rPr>
                        <a:t>Key Question</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2700" cap="flat" cmpd="sng">
                      <a:solidFill>
                        <a:srgbClr val="4F81BD"/>
                      </a:solidFill>
                      <a:prstDash val="solid"/>
                      <a:headEnd type="none" w="med" len="med"/>
                      <a:tailEnd type="none" w="med" len="med"/>
                    </a:lnT>
                    <a:lnB w="19050" cap="flat" cmpd="sng">
                      <a:solidFill>
                        <a:srgbClr val="4F81BD"/>
                      </a:solidFill>
                      <a:prstDash val="solid"/>
                      <a:headEnd type="none" w="med" len="med"/>
                      <a:tailEnd type="none" w="med" len="med"/>
                    </a:lnB>
                    <a:solidFill>
                      <a:srgbClr val="FFFFFF"/>
                    </a:solidFill>
                  </a:tcPr>
                </a:tc>
                <a:tc>
                  <a:txBody>
                    <a:bodyPr/>
                    <a:lstStyle/>
                    <a:p>
                      <a:pPr marL="40005" indent="0" algn="ctr">
                        <a:spcBef>
                          <a:spcPct val="0"/>
                        </a:spcBef>
                        <a:spcAft>
                          <a:spcPct val="0"/>
                        </a:spcAft>
                      </a:pPr>
                      <a:r>
                        <a:rPr sz="1400" b="1">
                          <a:solidFill>
                            <a:srgbClr val="000000"/>
                          </a:solidFill>
                          <a:latin typeface="Arial" panose="020B0604020202020204" pitchFamily="34" charset="0"/>
                          <a:ea typeface="SimSun" panose="02010600030101010101" pitchFamily="2" charset="-122"/>
                          <a:cs typeface="Arial" panose="020B0604020202020204" pitchFamily="34" charset="0"/>
                        </a:rPr>
                        <a:t>Details</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2700" cap="flat" cmpd="sng">
                      <a:solidFill>
                        <a:srgbClr val="4F81BD"/>
                      </a:solidFill>
                      <a:prstDash val="solid"/>
                      <a:headEnd type="none" w="med" len="med"/>
                      <a:tailEnd type="none" w="med" len="med"/>
                    </a:lnT>
                    <a:lnB w="19050" cap="flat" cmpd="sng">
                      <a:solidFill>
                        <a:srgbClr val="4F81BD"/>
                      </a:solidFill>
                      <a:prstDash val="solid"/>
                      <a:headEnd type="none" w="med" len="med"/>
                      <a:tailEnd type="none" w="med" len="med"/>
                    </a:lnB>
                    <a:solidFill>
                      <a:srgbClr val="FFFFFF"/>
                    </a:solidFill>
                  </a:tcPr>
                </a:tc>
                <a:tc>
                  <a:txBody>
                    <a:bodyPr/>
                    <a:lstStyle/>
                    <a:p>
                      <a:pPr marL="40005" indent="0" algn="ctr">
                        <a:spcBef>
                          <a:spcPct val="0"/>
                        </a:spcBef>
                        <a:spcAft>
                          <a:spcPct val="0"/>
                        </a:spcAft>
                      </a:pPr>
                      <a:r>
                        <a:rPr sz="1400" b="1">
                          <a:solidFill>
                            <a:srgbClr val="000000"/>
                          </a:solidFill>
                          <a:latin typeface="Arial" panose="020B0604020202020204" pitchFamily="34" charset="0"/>
                          <a:ea typeface="SimSun" panose="02010600030101010101" pitchFamily="2" charset="-122"/>
                          <a:cs typeface="Arial" panose="020B0604020202020204" pitchFamily="34" charset="0"/>
                        </a:rPr>
                        <a:t>Example</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2700" cap="flat" cmpd="sng">
                      <a:solidFill>
                        <a:srgbClr val="4F81BD"/>
                      </a:solidFill>
                      <a:prstDash val="solid"/>
                      <a:headEnd type="none" w="med" len="med"/>
                      <a:tailEnd type="none" w="med" len="med"/>
                    </a:lnT>
                    <a:lnB w="19050" cap="flat" cmpd="sng">
                      <a:solidFill>
                        <a:srgbClr val="4F81BD"/>
                      </a:solidFill>
                      <a:prstDash val="solid"/>
                      <a:headEnd type="none" w="med" len="med"/>
                      <a:tailEnd type="none" w="med" len="med"/>
                    </a:lnB>
                    <a:solidFill>
                      <a:srgbClr val="FFFFFF"/>
                    </a:solidFill>
                  </a:tcPr>
                </a:tc>
                <a:extLst>
                  <a:ext uri="{0D108BD9-81ED-4DB2-BD59-A6C34878D82A}">
                    <a16:rowId xmlns:a16="http://schemas.microsoft.com/office/drawing/2014/main" val="10000"/>
                  </a:ext>
                </a:extLst>
              </a:tr>
              <a:tr h="668655">
                <a:tc>
                  <a:txBody>
                    <a:bodyPr/>
                    <a:lstStyle/>
                    <a:p>
                      <a:pPr marL="40005" indent="0" algn="l">
                        <a:spcBef>
                          <a:spcPct val="0"/>
                        </a:spcBef>
                        <a:spcAft>
                          <a:spcPct val="0"/>
                        </a:spcAft>
                      </a:pPr>
                      <a:r>
                        <a:rPr sz="1400" b="1">
                          <a:solidFill>
                            <a:srgbClr val="000000"/>
                          </a:solidFill>
                          <a:latin typeface="Arial" panose="020B0604020202020204" pitchFamily="34" charset="0"/>
                          <a:ea typeface="SimSun" panose="02010600030101010101" pitchFamily="2" charset="-122"/>
                          <a:cs typeface="Arial" panose="020B0604020202020204" pitchFamily="34" charset="0"/>
                        </a:rPr>
                        <a:t>Why</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9050" cap="flat" cmpd="sng">
                      <a:solidFill>
                        <a:srgbClr val="4F81BD"/>
                      </a:solidFill>
                      <a:prstDash val="solid"/>
                      <a:headEnd type="none" w="med" len="med"/>
                      <a:tailEnd type="none" w="med" len="med"/>
                    </a:lnT>
                    <a:lnB w="19050" cap="flat" cmpd="sng">
                      <a:solidFill>
                        <a:srgbClr val="4F81BD"/>
                      </a:solidFill>
                      <a:prstDash val="solid"/>
                      <a:headEnd type="none" w="med" len="med"/>
                      <a:tailEnd type="none" w="med" len="med"/>
                    </a:lnB>
                    <a:solidFill>
                      <a:srgbClr val="DBE5F1"/>
                    </a:solidFill>
                  </a:tcPr>
                </a:tc>
                <a:tc>
                  <a:txBody>
                    <a:bodyPr/>
                    <a:lstStyle/>
                    <a:p>
                      <a:pPr marL="40005" indent="0" algn="l">
                        <a:spcBef>
                          <a:spcPct val="0"/>
                        </a:spcBef>
                        <a:spcAft>
                          <a:spcPct val="0"/>
                        </a:spcAft>
                      </a:pPr>
                      <a:r>
                        <a:rPr sz="1400">
                          <a:solidFill>
                            <a:srgbClr val="000000"/>
                          </a:solidFill>
                          <a:latin typeface="Arial" panose="020B0604020202020204" pitchFamily="34" charset="0"/>
                          <a:ea typeface="SimSun" panose="02010600030101010101" pitchFamily="2" charset="-122"/>
                          <a:cs typeface="Arial" panose="020B0604020202020204" pitchFamily="34" charset="0"/>
                        </a:rPr>
                        <a:t>Why is it being done?</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9050" cap="flat" cmpd="sng">
                      <a:solidFill>
                        <a:srgbClr val="4F81BD"/>
                      </a:solidFill>
                      <a:prstDash val="solid"/>
                      <a:headEnd type="none" w="med" len="med"/>
                      <a:tailEnd type="none" w="med" len="med"/>
                    </a:lnT>
                    <a:lnB w="19050" cap="flat" cmpd="sng">
                      <a:solidFill>
                        <a:srgbClr val="4F81BD"/>
                      </a:solidFill>
                      <a:prstDash val="solid"/>
                      <a:headEnd type="none" w="med" len="med"/>
                      <a:tailEnd type="none" w="med" len="med"/>
                    </a:lnB>
                    <a:solidFill>
                      <a:srgbClr val="DBE5F1"/>
                    </a:solidFill>
                  </a:tcPr>
                </a:tc>
                <a:tc>
                  <a:txBody>
                    <a:bodyPr/>
                    <a:lstStyle/>
                    <a:p>
                      <a:pPr marL="40005" indent="0" algn="l">
                        <a:spcBef>
                          <a:spcPct val="0"/>
                        </a:spcBef>
                        <a:spcAft>
                          <a:spcPct val="0"/>
                        </a:spcAft>
                      </a:pPr>
                      <a:r>
                        <a:rPr sz="1400">
                          <a:solidFill>
                            <a:srgbClr val="000000"/>
                          </a:solidFill>
                          <a:latin typeface="Arial" panose="020B0604020202020204" pitchFamily="34" charset="0"/>
                          <a:ea typeface="SimSun" panose="02010600030101010101" pitchFamily="2" charset="-122"/>
                          <a:cs typeface="Arial" panose="020B0604020202020204" pitchFamily="34" charset="0"/>
                        </a:rPr>
                        <a:t>Clarifies the purpose and goals; links tasks to business or user needs.</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9050" cap="flat" cmpd="sng">
                      <a:solidFill>
                        <a:srgbClr val="4F81BD"/>
                      </a:solidFill>
                      <a:prstDash val="solid"/>
                      <a:headEnd type="none" w="med" len="med"/>
                      <a:tailEnd type="none" w="med" len="med"/>
                    </a:lnT>
                    <a:lnB w="19050" cap="flat" cmpd="sng">
                      <a:solidFill>
                        <a:srgbClr val="4F81BD"/>
                      </a:solidFill>
                      <a:prstDash val="solid"/>
                      <a:headEnd type="none" w="med" len="med"/>
                      <a:tailEnd type="none" w="med" len="med"/>
                    </a:lnB>
                    <a:solidFill>
                      <a:srgbClr val="DBE5F1"/>
                    </a:solidFill>
                  </a:tcPr>
                </a:tc>
                <a:tc>
                  <a:txBody>
                    <a:bodyPr/>
                    <a:lstStyle/>
                    <a:p>
                      <a:pPr marL="40005" indent="0" algn="l">
                        <a:spcBef>
                          <a:spcPct val="0"/>
                        </a:spcBef>
                        <a:spcAft>
                          <a:spcPct val="0"/>
                        </a:spcAft>
                      </a:pPr>
                      <a:r>
                        <a:rPr sz="1400">
                          <a:solidFill>
                            <a:srgbClr val="000000"/>
                          </a:solidFill>
                          <a:latin typeface="Arial" panose="020B0604020202020204" pitchFamily="34" charset="0"/>
                          <a:ea typeface="SimSun" panose="02010600030101010101" pitchFamily="2" charset="-122"/>
                          <a:cs typeface="Arial" panose="020B0604020202020204" pitchFamily="34" charset="0"/>
                        </a:rPr>
                        <a:t>Why is a mobile version required? Why prioritize performance?</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9050" cap="flat" cmpd="sng">
                      <a:solidFill>
                        <a:srgbClr val="4F81BD"/>
                      </a:solidFill>
                      <a:prstDash val="solid"/>
                      <a:headEnd type="none" w="med" len="med"/>
                      <a:tailEnd type="none" w="med" len="med"/>
                    </a:lnT>
                    <a:lnB w="19050" cap="flat" cmpd="sng">
                      <a:solidFill>
                        <a:srgbClr val="4F81BD"/>
                      </a:solidFill>
                      <a:prstDash val="solid"/>
                      <a:headEnd type="none" w="med" len="med"/>
                      <a:tailEnd type="none" w="med" len="med"/>
                    </a:lnB>
                    <a:solidFill>
                      <a:srgbClr val="DBE5F1"/>
                    </a:solidFill>
                  </a:tcPr>
                </a:tc>
                <a:extLst>
                  <a:ext uri="{0D108BD9-81ED-4DB2-BD59-A6C34878D82A}">
                    <a16:rowId xmlns:a16="http://schemas.microsoft.com/office/drawing/2014/main" val="10001"/>
                  </a:ext>
                </a:extLst>
              </a:tr>
              <a:tr h="669290">
                <a:tc>
                  <a:txBody>
                    <a:bodyPr/>
                    <a:lstStyle/>
                    <a:p>
                      <a:pPr marL="40005" indent="0" algn="l">
                        <a:spcBef>
                          <a:spcPct val="0"/>
                        </a:spcBef>
                        <a:spcAft>
                          <a:spcPct val="0"/>
                        </a:spcAft>
                      </a:pPr>
                      <a:r>
                        <a:rPr sz="1400" b="1">
                          <a:solidFill>
                            <a:srgbClr val="000000"/>
                          </a:solidFill>
                          <a:latin typeface="Arial" panose="020B0604020202020204" pitchFamily="34" charset="0"/>
                          <a:ea typeface="SimSun" panose="02010600030101010101" pitchFamily="2" charset="-122"/>
                          <a:cs typeface="Arial" panose="020B0604020202020204" pitchFamily="34" charset="0"/>
                        </a:rPr>
                        <a:t>What</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9050" cap="flat" cmpd="sng">
                      <a:solidFill>
                        <a:srgbClr val="4F81BD"/>
                      </a:solidFill>
                      <a:prstDash val="solid"/>
                      <a:headEnd type="none" w="med" len="med"/>
                      <a:tailEnd type="none" w="med" len="med"/>
                    </a:lnT>
                    <a:lnB w="12700" cap="flat" cmpd="sng">
                      <a:solidFill>
                        <a:srgbClr val="4F81BD"/>
                      </a:solidFill>
                      <a:prstDash val="solid"/>
                      <a:headEnd type="none" w="med" len="med"/>
                      <a:tailEnd type="none" w="med" len="med"/>
                    </a:lnB>
                    <a:solidFill>
                      <a:srgbClr val="FFFFFF"/>
                    </a:solidFill>
                  </a:tcPr>
                </a:tc>
                <a:tc>
                  <a:txBody>
                    <a:bodyPr/>
                    <a:lstStyle/>
                    <a:p>
                      <a:pPr marL="40005" indent="0" algn="l">
                        <a:spcBef>
                          <a:spcPct val="0"/>
                        </a:spcBef>
                        <a:spcAft>
                          <a:spcPct val="0"/>
                        </a:spcAft>
                      </a:pPr>
                      <a:r>
                        <a:rPr sz="1400">
                          <a:solidFill>
                            <a:srgbClr val="000000"/>
                          </a:solidFill>
                          <a:latin typeface="Arial" panose="020B0604020202020204" pitchFamily="34" charset="0"/>
                          <a:ea typeface="SimSun" panose="02010600030101010101" pitchFamily="2" charset="-122"/>
                          <a:cs typeface="Arial" panose="020B0604020202020204" pitchFamily="34" charset="0"/>
                        </a:rPr>
                        <a:t>What will be done?</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9050" cap="flat" cmpd="sng">
                      <a:solidFill>
                        <a:srgbClr val="4F81BD"/>
                      </a:solidFill>
                      <a:prstDash val="solid"/>
                      <a:headEnd type="none" w="med" len="med"/>
                      <a:tailEnd type="none" w="med" len="med"/>
                    </a:lnT>
                    <a:lnB w="12700" cap="flat" cmpd="sng">
                      <a:solidFill>
                        <a:srgbClr val="4F81BD"/>
                      </a:solidFill>
                      <a:prstDash val="solid"/>
                      <a:headEnd type="none" w="med" len="med"/>
                      <a:tailEnd type="none" w="med" len="med"/>
                    </a:lnB>
                    <a:solidFill>
                      <a:srgbClr val="FFFFFF"/>
                    </a:solidFill>
                  </a:tcPr>
                </a:tc>
                <a:tc>
                  <a:txBody>
                    <a:bodyPr/>
                    <a:lstStyle/>
                    <a:p>
                      <a:pPr marL="40005" indent="0" algn="l">
                        <a:spcBef>
                          <a:spcPct val="0"/>
                        </a:spcBef>
                        <a:spcAft>
                          <a:spcPct val="0"/>
                        </a:spcAft>
                      </a:pPr>
                      <a:r>
                        <a:rPr sz="1400">
                          <a:solidFill>
                            <a:srgbClr val="000000"/>
                          </a:solidFill>
                          <a:latin typeface="Arial" panose="020B0604020202020204" pitchFamily="34" charset="0"/>
                          <a:ea typeface="SimSun" panose="02010600030101010101" pitchFamily="2" charset="-122"/>
                          <a:cs typeface="Arial" panose="020B0604020202020204" pitchFamily="34" charset="0"/>
                        </a:rPr>
                        <a:t>Defines the scope, objectives, tasks, and deliverables of the project.</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9050" cap="flat" cmpd="sng">
                      <a:solidFill>
                        <a:srgbClr val="4F81BD"/>
                      </a:solidFill>
                      <a:prstDash val="solid"/>
                      <a:headEnd type="none" w="med" len="med"/>
                      <a:tailEnd type="none" w="med" len="med"/>
                    </a:lnT>
                    <a:lnB w="12700" cap="flat" cmpd="sng">
                      <a:solidFill>
                        <a:srgbClr val="4F81BD"/>
                      </a:solidFill>
                      <a:prstDash val="solid"/>
                      <a:headEnd type="none" w="med" len="med"/>
                      <a:tailEnd type="none" w="med" len="med"/>
                    </a:lnB>
                    <a:solidFill>
                      <a:srgbClr val="FFFFFF"/>
                    </a:solidFill>
                  </a:tcPr>
                </a:tc>
                <a:tc>
                  <a:txBody>
                    <a:bodyPr/>
                    <a:lstStyle/>
                    <a:p>
                      <a:pPr marL="40005" indent="0" algn="l">
                        <a:spcBef>
                          <a:spcPct val="0"/>
                        </a:spcBef>
                        <a:spcAft>
                          <a:spcPct val="0"/>
                        </a:spcAft>
                      </a:pPr>
                      <a:r>
                        <a:rPr sz="1400">
                          <a:solidFill>
                            <a:srgbClr val="000000"/>
                          </a:solidFill>
                          <a:latin typeface="Arial" panose="020B0604020202020204" pitchFamily="34" charset="0"/>
                          <a:ea typeface="SimSun" panose="02010600030101010101" pitchFamily="2" charset="-122"/>
                          <a:cs typeface="Arial" panose="020B0604020202020204" pitchFamily="34" charset="0"/>
                        </a:rPr>
                        <a:t>What features will the system include (e.g., login, reporting)?</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9050" cap="flat" cmpd="sng">
                      <a:solidFill>
                        <a:srgbClr val="4F81BD"/>
                      </a:solidFill>
                      <a:prstDash val="solid"/>
                      <a:headEnd type="none" w="med" len="med"/>
                      <a:tailEnd type="none" w="med" len="med"/>
                    </a:lnT>
                    <a:lnB w="12700" cap="flat" cmpd="sng">
                      <a:solidFill>
                        <a:srgbClr val="4F81BD"/>
                      </a:solidFill>
                      <a:prstDash val="solid"/>
                      <a:headEnd type="none" w="med" len="med"/>
                      <a:tailEnd type="none" w="med" len="med"/>
                    </a:lnB>
                    <a:solidFill>
                      <a:srgbClr val="FFFFFF"/>
                    </a:solidFill>
                  </a:tcPr>
                </a:tc>
                <a:extLst>
                  <a:ext uri="{0D108BD9-81ED-4DB2-BD59-A6C34878D82A}">
                    <a16:rowId xmlns:a16="http://schemas.microsoft.com/office/drawing/2014/main" val="10002"/>
                  </a:ext>
                </a:extLst>
              </a:tr>
              <a:tr h="668655">
                <a:tc>
                  <a:txBody>
                    <a:bodyPr/>
                    <a:lstStyle/>
                    <a:p>
                      <a:pPr marL="40005" indent="0" algn="l">
                        <a:spcBef>
                          <a:spcPct val="0"/>
                        </a:spcBef>
                        <a:spcAft>
                          <a:spcPct val="0"/>
                        </a:spcAft>
                      </a:pPr>
                      <a:r>
                        <a:rPr sz="1400" b="1">
                          <a:solidFill>
                            <a:srgbClr val="000000"/>
                          </a:solidFill>
                          <a:latin typeface="Arial" panose="020B0604020202020204" pitchFamily="34" charset="0"/>
                          <a:ea typeface="SimSun" panose="02010600030101010101" pitchFamily="2" charset="-122"/>
                          <a:cs typeface="Arial" panose="020B0604020202020204" pitchFamily="34" charset="0"/>
                        </a:rPr>
                        <a:t>When</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2700" cap="flat" cmpd="sng">
                      <a:solidFill>
                        <a:srgbClr val="4F81BD"/>
                      </a:solidFill>
                      <a:prstDash val="solid"/>
                      <a:headEnd type="none" w="med" len="med"/>
                      <a:tailEnd type="none" w="med" len="med"/>
                    </a:lnT>
                    <a:lnB w="12700" cap="flat" cmpd="sng">
                      <a:solidFill>
                        <a:srgbClr val="4F81BD"/>
                      </a:solidFill>
                      <a:prstDash val="solid"/>
                      <a:headEnd type="none" w="med" len="med"/>
                      <a:tailEnd type="none" w="med" len="med"/>
                    </a:lnB>
                    <a:solidFill>
                      <a:srgbClr val="DBE5F1"/>
                    </a:solidFill>
                  </a:tcPr>
                </a:tc>
                <a:tc>
                  <a:txBody>
                    <a:bodyPr/>
                    <a:lstStyle/>
                    <a:p>
                      <a:pPr marL="40005" indent="0" algn="l">
                        <a:spcBef>
                          <a:spcPct val="0"/>
                        </a:spcBef>
                        <a:spcAft>
                          <a:spcPct val="0"/>
                        </a:spcAft>
                      </a:pPr>
                      <a:r>
                        <a:rPr sz="1400">
                          <a:solidFill>
                            <a:srgbClr val="000000"/>
                          </a:solidFill>
                          <a:latin typeface="Arial" panose="020B0604020202020204" pitchFamily="34" charset="0"/>
                          <a:ea typeface="SimSun" panose="02010600030101010101" pitchFamily="2" charset="-122"/>
                          <a:cs typeface="Arial" panose="020B0604020202020204" pitchFamily="34" charset="0"/>
                        </a:rPr>
                        <a:t>When will it be done?</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2700" cap="flat" cmpd="sng">
                      <a:solidFill>
                        <a:srgbClr val="4F81BD"/>
                      </a:solidFill>
                      <a:prstDash val="solid"/>
                      <a:headEnd type="none" w="med" len="med"/>
                      <a:tailEnd type="none" w="med" len="med"/>
                    </a:lnT>
                    <a:lnB w="12700" cap="flat" cmpd="sng">
                      <a:solidFill>
                        <a:srgbClr val="4F81BD"/>
                      </a:solidFill>
                      <a:prstDash val="solid"/>
                      <a:headEnd type="none" w="med" len="med"/>
                      <a:tailEnd type="none" w="med" len="med"/>
                    </a:lnB>
                    <a:solidFill>
                      <a:srgbClr val="DBE5F1"/>
                    </a:solidFill>
                  </a:tcPr>
                </a:tc>
                <a:tc>
                  <a:txBody>
                    <a:bodyPr/>
                    <a:lstStyle/>
                    <a:p>
                      <a:pPr marL="40005" indent="0" algn="l">
                        <a:spcBef>
                          <a:spcPct val="0"/>
                        </a:spcBef>
                        <a:spcAft>
                          <a:spcPct val="0"/>
                        </a:spcAft>
                      </a:pPr>
                      <a:r>
                        <a:rPr sz="1400">
                          <a:solidFill>
                            <a:srgbClr val="000000"/>
                          </a:solidFill>
                          <a:latin typeface="Arial" panose="020B0604020202020204" pitchFamily="34" charset="0"/>
                          <a:ea typeface="SimSun" panose="02010600030101010101" pitchFamily="2" charset="-122"/>
                          <a:cs typeface="Arial" panose="020B0604020202020204" pitchFamily="34" charset="0"/>
                        </a:rPr>
                        <a:t>Establishes the timeline, deadlines, and schedule of each task.</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2700" cap="flat" cmpd="sng">
                      <a:solidFill>
                        <a:srgbClr val="4F81BD"/>
                      </a:solidFill>
                      <a:prstDash val="solid"/>
                      <a:headEnd type="none" w="med" len="med"/>
                      <a:tailEnd type="none" w="med" len="med"/>
                    </a:lnT>
                    <a:lnB w="12700" cap="flat" cmpd="sng">
                      <a:solidFill>
                        <a:srgbClr val="4F81BD"/>
                      </a:solidFill>
                      <a:prstDash val="solid"/>
                      <a:headEnd type="none" w="med" len="med"/>
                      <a:tailEnd type="none" w="med" len="med"/>
                    </a:lnB>
                    <a:solidFill>
                      <a:srgbClr val="DBE5F1"/>
                    </a:solidFill>
                  </a:tcPr>
                </a:tc>
                <a:tc>
                  <a:txBody>
                    <a:bodyPr/>
                    <a:lstStyle/>
                    <a:p>
                      <a:pPr marL="40005" indent="0" algn="l">
                        <a:spcBef>
                          <a:spcPct val="0"/>
                        </a:spcBef>
                        <a:spcAft>
                          <a:spcPct val="0"/>
                        </a:spcAft>
                      </a:pPr>
                      <a:r>
                        <a:rPr sz="1400">
                          <a:solidFill>
                            <a:srgbClr val="000000"/>
                          </a:solidFill>
                          <a:latin typeface="Arial" panose="020B0604020202020204" pitchFamily="34" charset="0"/>
                          <a:ea typeface="SimSun" panose="02010600030101010101" pitchFamily="2" charset="-122"/>
                          <a:cs typeface="Arial" panose="020B0604020202020204" pitchFamily="34" charset="0"/>
                        </a:rPr>
                        <a:t>When will testing begin? When is the delivery date?</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2700" cap="flat" cmpd="sng">
                      <a:solidFill>
                        <a:srgbClr val="4F81BD"/>
                      </a:solidFill>
                      <a:prstDash val="solid"/>
                      <a:headEnd type="none" w="med" len="med"/>
                      <a:tailEnd type="none" w="med" len="med"/>
                    </a:lnT>
                    <a:lnB w="12700" cap="flat" cmpd="sng">
                      <a:solidFill>
                        <a:srgbClr val="4F81BD"/>
                      </a:solidFill>
                      <a:prstDash val="solid"/>
                      <a:headEnd type="none" w="med" len="med"/>
                      <a:tailEnd type="none" w="med" len="med"/>
                    </a:lnB>
                    <a:solidFill>
                      <a:srgbClr val="DBE5F1"/>
                    </a:solidFill>
                  </a:tcPr>
                </a:tc>
                <a:extLst>
                  <a:ext uri="{0D108BD9-81ED-4DB2-BD59-A6C34878D82A}">
                    <a16:rowId xmlns:a16="http://schemas.microsoft.com/office/drawing/2014/main" val="10003"/>
                  </a:ext>
                </a:extLst>
              </a:tr>
              <a:tr h="669290">
                <a:tc>
                  <a:txBody>
                    <a:bodyPr/>
                    <a:lstStyle/>
                    <a:p>
                      <a:pPr marL="40005" indent="0" algn="l">
                        <a:spcBef>
                          <a:spcPct val="0"/>
                        </a:spcBef>
                        <a:spcAft>
                          <a:spcPct val="0"/>
                        </a:spcAft>
                      </a:pPr>
                      <a:r>
                        <a:rPr sz="1400" b="1">
                          <a:solidFill>
                            <a:srgbClr val="000000"/>
                          </a:solidFill>
                          <a:latin typeface="Arial" panose="020B0604020202020204" pitchFamily="34" charset="0"/>
                          <a:ea typeface="SimSun" panose="02010600030101010101" pitchFamily="2" charset="-122"/>
                          <a:cs typeface="Arial" panose="020B0604020202020204" pitchFamily="34" charset="0"/>
                        </a:rPr>
                        <a:t>Who</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2700" cap="flat" cmpd="sng">
                      <a:solidFill>
                        <a:srgbClr val="4F81BD"/>
                      </a:solidFill>
                      <a:prstDash val="solid"/>
                      <a:headEnd type="none" w="med" len="med"/>
                      <a:tailEnd type="none" w="med" len="med"/>
                    </a:lnT>
                    <a:lnB w="12700" cap="flat" cmpd="sng">
                      <a:solidFill>
                        <a:srgbClr val="4F81BD"/>
                      </a:solidFill>
                      <a:prstDash val="solid"/>
                      <a:headEnd type="none" w="med" len="med"/>
                      <a:tailEnd type="none" w="med" len="med"/>
                    </a:lnB>
                    <a:solidFill>
                      <a:srgbClr val="DBE5F1"/>
                    </a:solidFill>
                  </a:tcPr>
                </a:tc>
                <a:tc>
                  <a:txBody>
                    <a:bodyPr/>
                    <a:lstStyle/>
                    <a:p>
                      <a:pPr marL="40005" indent="0" algn="l">
                        <a:spcBef>
                          <a:spcPct val="0"/>
                        </a:spcBef>
                        <a:spcAft>
                          <a:spcPct val="0"/>
                        </a:spcAft>
                      </a:pPr>
                      <a:r>
                        <a:rPr sz="1400">
                          <a:solidFill>
                            <a:srgbClr val="000000"/>
                          </a:solidFill>
                          <a:latin typeface="Arial" panose="020B0604020202020204" pitchFamily="34" charset="0"/>
                          <a:ea typeface="SimSun" panose="02010600030101010101" pitchFamily="2" charset="-122"/>
                          <a:cs typeface="Arial" panose="020B0604020202020204" pitchFamily="34" charset="0"/>
                        </a:rPr>
                        <a:t>Who is responsible?</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2700" cap="flat" cmpd="sng">
                      <a:solidFill>
                        <a:srgbClr val="4F81BD"/>
                      </a:solidFill>
                      <a:prstDash val="solid"/>
                      <a:headEnd type="none" w="med" len="med"/>
                      <a:tailEnd type="none" w="med" len="med"/>
                    </a:lnT>
                    <a:lnB w="12700" cap="flat" cmpd="sng">
                      <a:solidFill>
                        <a:srgbClr val="4F81BD"/>
                      </a:solidFill>
                      <a:prstDash val="solid"/>
                      <a:headEnd type="none" w="med" len="med"/>
                      <a:tailEnd type="none" w="med" len="med"/>
                    </a:lnB>
                    <a:solidFill>
                      <a:srgbClr val="DBE5F1"/>
                    </a:solidFill>
                  </a:tcPr>
                </a:tc>
                <a:tc>
                  <a:txBody>
                    <a:bodyPr/>
                    <a:lstStyle/>
                    <a:p>
                      <a:pPr marL="40005" indent="0" algn="l">
                        <a:spcBef>
                          <a:spcPct val="0"/>
                        </a:spcBef>
                        <a:spcAft>
                          <a:spcPct val="0"/>
                        </a:spcAft>
                      </a:pPr>
                      <a:r>
                        <a:rPr sz="1400">
                          <a:solidFill>
                            <a:srgbClr val="000000"/>
                          </a:solidFill>
                          <a:latin typeface="Arial" panose="020B0604020202020204" pitchFamily="34" charset="0"/>
                          <a:ea typeface="SimSun" panose="02010600030101010101" pitchFamily="2" charset="-122"/>
                          <a:cs typeface="Arial" panose="020B0604020202020204" pitchFamily="34" charset="0"/>
                        </a:rPr>
                        <a:t>Identifies roles and responsibilities of team members and stakeholders.</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2700" cap="flat" cmpd="sng">
                      <a:solidFill>
                        <a:srgbClr val="4F81BD"/>
                      </a:solidFill>
                      <a:prstDash val="solid"/>
                      <a:headEnd type="none" w="med" len="med"/>
                      <a:tailEnd type="none" w="med" len="med"/>
                    </a:lnT>
                    <a:lnB w="12700" cap="flat" cmpd="sng">
                      <a:solidFill>
                        <a:srgbClr val="4F81BD"/>
                      </a:solidFill>
                      <a:prstDash val="solid"/>
                      <a:headEnd type="none" w="med" len="med"/>
                      <a:tailEnd type="none" w="med" len="med"/>
                    </a:lnB>
                    <a:solidFill>
                      <a:srgbClr val="DBE5F1"/>
                    </a:solidFill>
                  </a:tcPr>
                </a:tc>
                <a:tc>
                  <a:txBody>
                    <a:bodyPr/>
                    <a:lstStyle/>
                    <a:p>
                      <a:pPr marL="40005" indent="0" algn="l">
                        <a:spcBef>
                          <a:spcPct val="0"/>
                        </a:spcBef>
                        <a:spcAft>
                          <a:spcPct val="0"/>
                        </a:spcAft>
                      </a:pPr>
                      <a:r>
                        <a:rPr sz="1400">
                          <a:solidFill>
                            <a:srgbClr val="000000"/>
                          </a:solidFill>
                          <a:latin typeface="Arial" panose="020B0604020202020204" pitchFamily="34" charset="0"/>
                          <a:ea typeface="SimSun" panose="02010600030101010101" pitchFamily="2" charset="-122"/>
                          <a:cs typeface="Arial" panose="020B0604020202020204" pitchFamily="34" charset="0"/>
                        </a:rPr>
                        <a:t>Who will handle database design? Who is the project manager?</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2700" cap="flat" cmpd="sng">
                      <a:solidFill>
                        <a:srgbClr val="4F81BD"/>
                      </a:solidFill>
                      <a:prstDash val="solid"/>
                      <a:headEnd type="none" w="med" len="med"/>
                      <a:tailEnd type="none" w="med" len="med"/>
                    </a:lnT>
                    <a:lnB w="12700" cap="flat" cmpd="sng">
                      <a:solidFill>
                        <a:srgbClr val="4F81BD"/>
                      </a:solidFill>
                      <a:prstDash val="solid"/>
                      <a:headEnd type="none" w="med" len="med"/>
                      <a:tailEnd type="none" w="med" len="med"/>
                    </a:lnB>
                    <a:solidFill>
                      <a:srgbClr val="DBE5F1"/>
                    </a:solidFill>
                  </a:tcPr>
                </a:tc>
                <a:extLst>
                  <a:ext uri="{0D108BD9-81ED-4DB2-BD59-A6C34878D82A}">
                    <a16:rowId xmlns:a16="http://schemas.microsoft.com/office/drawing/2014/main" val="10004"/>
                  </a:ext>
                </a:extLst>
              </a:tr>
              <a:tr h="669290">
                <a:tc>
                  <a:txBody>
                    <a:bodyPr/>
                    <a:lstStyle/>
                    <a:p>
                      <a:pPr marL="40005" indent="0" algn="l">
                        <a:spcBef>
                          <a:spcPct val="0"/>
                        </a:spcBef>
                        <a:spcAft>
                          <a:spcPct val="0"/>
                        </a:spcAft>
                      </a:pPr>
                      <a:r>
                        <a:rPr sz="1400" b="1">
                          <a:solidFill>
                            <a:srgbClr val="000000"/>
                          </a:solidFill>
                          <a:latin typeface="Arial" panose="020B0604020202020204" pitchFamily="34" charset="0"/>
                          <a:ea typeface="SimSun" panose="02010600030101010101" pitchFamily="2" charset="-122"/>
                          <a:cs typeface="Arial" panose="020B0604020202020204" pitchFamily="34" charset="0"/>
                        </a:rPr>
                        <a:t>Where</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2700" cap="flat" cmpd="sng">
                      <a:solidFill>
                        <a:srgbClr val="4F81BD"/>
                      </a:solidFill>
                      <a:prstDash val="solid"/>
                      <a:headEnd type="none" w="med" len="med"/>
                      <a:tailEnd type="none" w="med" len="med"/>
                    </a:lnT>
                    <a:lnB w="12700" cap="flat" cmpd="sng">
                      <a:solidFill>
                        <a:srgbClr val="4F81BD"/>
                      </a:solidFill>
                      <a:prstDash val="solid"/>
                      <a:headEnd type="none" w="med" len="med"/>
                      <a:tailEnd type="none" w="med" len="med"/>
                    </a:lnB>
                    <a:solidFill>
                      <a:srgbClr val="FFFFFF"/>
                    </a:solidFill>
                  </a:tcPr>
                </a:tc>
                <a:tc>
                  <a:txBody>
                    <a:bodyPr/>
                    <a:lstStyle/>
                    <a:p>
                      <a:pPr marL="40005" indent="0" algn="l">
                        <a:spcBef>
                          <a:spcPct val="0"/>
                        </a:spcBef>
                        <a:spcAft>
                          <a:spcPct val="0"/>
                        </a:spcAft>
                      </a:pPr>
                      <a:r>
                        <a:rPr sz="1400">
                          <a:solidFill>
                            <a:srgbClr val="000000"/>
                          </a:solidFill>
                          <a:latin typeface="Arial" panose="020B0604020202020204" pitchFamily="34" charset="0"/>
                          <a:ea typeface="SimSun" panose="02010600030101010101" pitchFamily="2" charset="-122"/>
                          <a:cs typeface="Arial" panose="020B0604020202020204" pitchFamily="34" charset="0"/>
                        </a:rPr>
                        <a:t>Where will it be done?</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2700" cap="flat" cmpd="sng">
                      <a:solidFill>
                        <a:srgbClr val="4F81BD"/>
                      </a:solidFill>
                      <a:prstDash val="solid"/>
                      <a:headEnd type="none" w="med" len="med"/>
                      <a:tailEnd type="none" w="med" len="med"/>
                    </a:lnT>
                    <a:lnB w="12700" cap="flat" cmpd="sng">
                      <a:solidFill>
                        <a:srgbClr val="4F81BD"/>
                      </a:solidFill>
                      <a:prstDash val="solid"/>
                      <a:headEnd type="none" w="med" len="med"/>
                      <a:tailEnd type="none" w="med" len="med"/>
                    </a:lnB>
                    <a:solidFill>
                      <a:srgbClr val="FFFFFF"/>
                    </a:solidFill>
                  </a:tcPr>
                </a:tc>
                <a:tc>
                  <a:txBody>
                    <a:bodyPr/>
                    <a:lstStyle/>
                    <a:p>
                      <a:pPr marL="40005" indent="0" algn="l">
                        <a:spcBef>
                          <a:spcPct val="0"/>
                        </a:spcBef>
                        <a:spcAft>
                          <a:spcPct val="0"/>
                        </a:spcAft>
                      </a:pPr>
                      <a:r>
                        <a:rPr sz="1400">
                          <a:solidFill>
                            <a:srgbClr val="000000"/>
                          </a:solidFill>
                          <a:latin typeface="Arial" panose="020B0604020202020204" pitchFamily="34" charset="0"/>
                          <a:ea typeface="SimSun" panose="02010600030101010101" pitchFamily="2" charset="-122"/>
                          <a:cs typeface="Arial" panose="020B0604020202020204" pitchFamily="34" charset="0"/>
                        </a:rPr>
                        <a:t>Determines the physical or virtual location and platform where work is performed.</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2700" cap="flat" cmpd="sng">
                      <a:solidFill>
                        <a:srgbClr val="4F81BD"/>
                      </a:solidFill>
                      <a:prstDash val="solid"/>
                      <a:headEnd type="none" w="med" len="med"/>
                      <a:tailEnd type="none" w="med" len="med"/>
                    </a:lnT>
                    <a:lnB w="12700" cap="flat" cmpd="sng">
                      <a:solidFill>
                        <a:srgbClr val="4F81BD"/>
                      </a:solidFill>
                      <a:prstDash val="solid"/>
                      <a:headEnd type="none" w="med" len="med"/>
                      <a:tailEnd type="none" w="med" len="med"/>
                    </a:lnB>
                    <a:solidFill>
                      <a:srgbClr val="FFFFFF"/>
                    </a:solidFill>
                  </a:tcPr>
                </a:tc>
                <a:tc>
                  <a:txBody>
                    <a:bodyPr/>
                    <a:lstStyle/>
                    <a:p>
                      <a:pPr marL="40005" indent="0" algn="l">
                        <a:spcBef>
                          <a:spcPct val="0"/>
                        </a:spcBef>
                        <a:spcAft>
                          <a:spcPct val="0"/>
                        </a:spcAft>
                      </a:pPr>
                      <a:r>
                        <a:rPr sz="1400">
                          <a:solidFill>
                            <a:srgbClr val="000000"/>
                          </a:solidFill>
                          <a:latin typeface="Arial" panose="020B0604020202020204" pitchFamily="34" charset="0"/>
                          <a:ea typeface="SimSun" panose="02010600030101010101" pitchFamily="2" charset="-122"/>
                          <a:cs typeface="Arial" panose="020B0604020202020204" pitchFamily="34" charset="0"/>
                        </a:rPr>
                        <a:t>Will development be done remotely? On which cloud platform?</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2700" cap="flat" cmpd="sng">
                      <a:solidFill>
                        <a:srgbClr val="4F81BD"/>
                      </a:solidFill>
                      <a:prstDash val="solid"/>
                      <a:headEnd type="none" w="med" len="med"/>
                      <a:tailEnd type="none" w="med" len="med"/>
                    </a:lnT>
                    <a:lnB w="12700" cap="flat" cmpd="sng">
                      <a:solidFill>
                        <a:srgbClr val="4F81BD"/>
                      </a:solidFill>
                      <a:prstDash val="solid"/>
                      <a:headEnd type="none" w="med" len="med"/>
                      <a:tailEnd type="none" w="med" len="med"/>
                    </a:lnB>
                    <a:solidFill>
                      <a:srgbClr val="FFFFFF"/>
                    </a:solidFill>
                  </a:tcPr>
                </a:tc>
                <a:extLst>
                  <a:ext uri="{0D108BD9-81ED-4DB2-BD59-A6C34878D82A}">
                    <a16:rowId xmlns:a16="http://schemas.microsoft.com/office/drawing/2014/main" val="10005"/>
                  </a:ext>
                </a:extLst>
              </a:tr>
              <a:tr h="668655">
                <a:tc>
                  <a:txBody>
                    <a:bodyPr/>
                    <a:lstStyle/>
                    <a:p>
                      <a:pPr marL="40005" indent="0" algn="l">
                        <a:spcBef>
                          <a:spcPct val="0"/>
                        </a:spcBef>
                        <a:spcAft>
                          <a:spcPct val="0"/>
                        </a:spcAft>
                      </a:pPr>
                      <a:r>
                        <a:rPr sz="1400" b="1">
                          <a:solidFill>
                            <a:srgbClr val="000000"/>
                          </a:solidFill>
                          <a:latin typeface="Arial" panose="020B0604020202020204" pitchFamily="34" charset="0"/>
                          <a:ea typeface="SimSun" panose="02010600030101010101" pitchFamily="2" charset="-122"/>
                          <a:cs typeface="Arial" panose="020B0604020202020204" pitchFamily="34" charset="0"/>
                        </a:rPr>
                        <a:t>How</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2700" cap="flat" cmpd="sng">
                      <a:solidFill>
                        <a:srgbClr val="4F81BD"/>
                      </a:solidFill>
                      <a:prstDash val="solid"/>
                      <a:headEnd type="none" w="med" len="med"/>
                      <a:tailEnd type="none" w="med" len="med"/>
                    </a:lnT>
                    <a:lnB w="12700" cap="flat" cmpd="sng">
                      <a:solidFill>
                        <a:srgbClr val="4F81BD"/>
                      </a:solidFill>
                      <a:prstDash val="solid"/>
                      <a:headEnd type="none" w="med" len="med"/>
                      <a:tailEnd type="none" w="med" len="med"/>
                    </a:lnB>
                    <a:solidFill>
                      <a:srgbClr val="FFFFFF"/>
                    </a:solidFill>
                  </a:tcPr>
                </a:tc>
                <a:tc>
                  <a:txBody>
                    <a:bodyPr/>
                    <a:lstStyle/>
                    <a:p>
                      <a:pPr marL="40005" indent="0" algn="l">
                        <a:spcBef>
                          <a:spcPct val="0"/>
                        </a:spcBef>
                        <a:spcAft>
                          <a:spcPct val="0"/>
                        </a:spcAft>
                      </a:pPr>
                      <a:r>
                        <a:rPr sz="1400">
                          <a:solidFill>
                            <a:srgbClr val="000000"/>
                          </a:solidFill>
                          <a:latin typeface="Arial" panose="020B0604020202020204" pitchFamily="34" charset="0"/>
                          <a:ea typeface="SimSun" panose="02010600030101010101" pitchFamily="2" charset="-122"/>
                          <a:cs typeface="Arial" panose="020B0604020202020204" pitchFamily="34" charset="0"/>
                        </a:rPr>
                        <a:t>How will it be done?</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2700" cap="flat" cmpd="sng">
                      <a:solidFill>
                        <a:srgbClr val="4F81BD"/>
                      </a:solidFill>
                      <a:prstDash val="solid"/>
                      <a:headEnd type="none" w="med" len="med"/>
                      <a:tailEnd type="none" w="med" len="med"/>
                    </a:lnT>
                    <a:lnB w="12700" cap="flat" cmpd="sng">
                      <a:solidFill>
                        <a:srgbClr val="4F81BD"/>
                      </a:solidFill>
                      <a:prstDash val="solid"/>
                      <a:headEnd type="none" w="med" len="med"/>
                      <a:tailEnd type="none" w="med" len="med"/>
                    </a:lnB>
                    <a:solidFill>
                      <a:srgbClr val="FFFFFF"/>
                    </a:solidFill>
                  </a:tcPr>
                </a:tc>
                <a:tc>
                  <a:txBody>
                    <a:bodyPr/>
                    <a:lstStyle/>
                    <a:p>
                      <a:pPr marL="40005" indent="0" algn="l">
                        <a:spcBef>
                          <a:spcPct val="0"/>
                        </a:spcBef>
                        <a:spcAft>
                          <a:spcPct val="0"/>
                        </a:spcAft>
                      </a:pPr>
                      <a:r>
                        <a:rPr sz="1400">
                          <a:solidFill>
                            <a:srgbClr val="000000"/>
                          </a:solidFill>
                          <a:latin typeface="Arial" panose="020B0604020202020204" pitchFamily="34" charset="0"/>
                          <a:ea typeface="SimSun" panose="02010600030101010101" pitchFamily="2" charset="-122"/>
                          <a:cs typeface="Arial" panose="020B0604020202020204" pitchFamily="34" charset="0"/>
                        </a:rPr>
                        <a:t>Specifies the methods, tools, standards, and technologies used.</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2700" cap="flat" cmpd="sng">
                      <a:solidFill>
                        <a:srgbClr val="4F81BD"/>
                      </a:solidFill>
                      <a:prstDash val="solid"/>
                      <a:headEnd type="none" w="med" len="med"/>
                      <a:tailEnd type="none" w="med" len="med"/>
                    </a:lnT>
                    <a:lnB w="12700" cap="flat" cmpd="sng">
                      <a:solidFill>
                        <a:srgbClr val="4F81BD"/>
                      </a:solidFill>
                      <a:prstDash val="solid"/>
                      <a:headEnd type="none" w="med" len="med"/>
                      <a:tailEnd type="none" w="med" len="med"/>
                    </a:lnB>
                    <a:solidFill>
                      <a:srgbClr val="FFFFFF"/>
                    </a:solidFill>
                  </a:tcPr>
                </a:tc>
                <a:tc>
                  <a:txBody>
                    <a:bodyPr/>
                    <a:lstStyle/>
                    <a:p>
                      <a:pPr marL="40005" indent="0" algn="l">
                        <a:spcBef>
                          <a:spcPct val="0"/>
                        </a:spcBef>
                        <a:spcAft>
                          <a:spcPct val="0"/>
                        </a:spcAft>
                      </a:pPr>
                      <a:r>
                        <a:rPr sz="1400">
                          <a:solidFill>
                            <a:srgbClr val="000000"/>
                          </a:solidFill>
                          <a:latin typeface="Arial" panose="020B0604020202020204" pitchFamily="34" charset="0"/>
                          <a:ea typeface="SimSun" panose="02010600030101010101" pitchFamily="2" charset="-122"/>
                          <a:cs typeface="Arial" panose="020B0604020202020204" pitchFamily="34" charset="0"/>
                        </a:rPr>
                        <a:t>Using Agile methodology, Java, and MySQL database.</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2700" cap="flat" cmpd="sng">
                      <a:solidFill>
                        <a:srgbClr val="4F81BD"/>
                      </a:solidFill>
                      <a:prstDash val="solid"/>
                      <a:headEnd type="none" w="med" len="med"/>
                      <a:tailEnd type="none" w="med" len="med"/>
                    </a:lnT>
                    <a:lnB w="12700" cap="flat" cmpd="sng">
                      <a:solidFill>
                        <a:srgbClr val="4F81BD"/>
                      </a:solidFill>
                      <a:prstDash val="solid"/>
                      <a:headEnd type="none" w="med" len="med"/>
                      <a:tailEnd type="none" w="med" len="med"/>
                    </a:lnB>
                    <a:solidFill>
                      <a:srgbClr val="FFFFFF"/>
                    </a:solidFill>
                  </a:tcPr>
                </a:tc>
                <a:extLst>
                  <a:ext uri="{0D108BD9-81ED-4DB2-BD59-A6C34878D82A}">
                    <a16:rowId xmlns:a16="http://schemas.microsoft.com/office/drawing/2014/main" val="10006"/>
                  </a:ext>
                </a:extLst>
              </a:tr>
              <a:tr h="669290">
                <a:tc>
                  <a:txBody>
                    <a:bodyPr/>
                    <a:lstStyle/>
                    <a:p>
                      <a:pPr marL="40005" indent="0" algn="l">
                        <a:spcBef>
                          <a:spcPct val="0"/>
                        </a:spcBef>
                        <a:spcAft>
                          <a:spcPct val="0"/>
                        </a:spcAft>
                      </a:pPr>
                      <a:r>
                        <a:rPr sz="1400" b="1">
                          <a:solidFill>
                            <a:srgbClr val="000000"/>
                          </a:solidFill>
                          <a:latin typeface="Arial" panose="020B0604020202020204" pitchFamily="34" charset="0"/>
                          <a:ea typeface="SimSun" panose="02010600030101010101" pitchFamily="2" charset="-122"/>
                          <a:cs typeface="Arial" panose="020B0604020202020204" pitchFamily="34" charset="0"/>
                        </a:rPr>
                        <a:t>How much</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2700" cap="flat" cmpd="sng">
                      <a:solidFill>
                        <a:srgbClr val="4F81BD"/>
                      </a:solidFill>
                      <a:prstDash val="solid"/>
                      <a:headEnd type="none" w="med" len="med"/>
                      <a:tailEnd type="none" w="med" len="med"/>
                    </a:lnT>
                    <a:lnB w="12700" cap="flat" cmpd="sng">
                      <a:solidFill>
                        <a:srgbClr val="4F81BD"/>
                      </a:solidFill>
                      <a:prstDash val="solid"/>
                      <a:headEnd type="none" w="med" len="med"/>
                      <a:tailEnd type="none" w="med" len="med"/>
                    </a:lnB>
                    <a:solidFill>
                      <a:srgbClr val="DBE5F1"/>
                    </a:solidFill>
                  </a:tcPr>
                </a:tc>
                <a:tc>
                  <a:txBody>
                    <a:bodyPr/>
                    <a:lstStyle/>
                    <a:p>
                      <a:pPr marL="40005" indent="0" algn="l">
                        <a:spcBef>
                          <a:spcPct val="0"/>
                        </a:spcBef>
                        <a:spcAft>
                          <a:spcPct val="0"/>
                        </a:spcAft>
                      </a:pPr>
                      <a:r>
                        <a:rPr sz="1400">
                          <a:solidFill>
                            <a:srgbClr val="000000"/>
                          </a:solidFill>
                          <a:latin typeface="Arial" panose="020B0604020202020204" pitchFamily="34" charset="0"/>
                          <a:ea typeface="SimSun" panose="02010600030101010101" pitchFamily="2" charset="-122"/>
                          <a:cs typeface="Arial" panose="020B0604020202020204" pitchFamily="34" charset="0"/>
                        </a:rPr>
                        <a:t>How much will it cost?</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2700" cap="flat" cmpd="sng">
                      <a:solidFill>
                        <a:srgbClr val="4F81BD"/>
                      </a:solidFill>
                      <a:prstDash val="solid"/>
                      <a:headEnd type="none" w="med" len="med"/>
                      <a:tailEnd type="none" w="med" len="med"/>
                    </a:lnT>
                    <a:lnB w="12700" cap="flat" cmpd="sng">
                      <a:solidFill>
                        <a:srgbClr val="4F81BD"/>
                      </a:solidFill>
                      <a:prstDash val="solid"/>
                      <a:headEnd type="none" w="med" len="med"/>
                      <a:tailEnd type="none" w="med" len="med"/>
                    </a:lnB>
                    <a:solidFill>
                      <a:srgbClr val="DBE5F1"/>
                    </a:solidFill>
                  </a:tcPr>
                </a:tc>
                <a:tc>
                  <a:txBody>
                    <a:bodyPr/>
                    <a:lstStyle/>
                    <a:p>
                      <a:pPr marL="40005" indent="0" algn="l">
                        <a:spcBef>
                          <a:spcPct val="0"/>
                        </a:spcBef>
                        <a:spcAft>
                          <a:spcPct val="0"/>
                        </a:spcAft>
                      </a:pPr>
                      <a:r>
                        <a:rPr sz="1400">
                          <a:solidFill>
                            <a:srgbClr val="000000"/>
                          </a:solidFill>
                          <a:latin typeface="Arial" panose="020B0604020202020204" pitchFamily="34" charset="0"/>
                          <a:ea typeface="SimSun" panose="02010600030101010101" pitchFamily="2" charset="-122"/>
                          <a:cs typeface="Arial" panose="020B0604020202020204" pitchFamily="34" charset="0"/>
                        </a:rPr>
                        <a:t>Estimates cost, effort, time, and resources required for each phase.</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2700" cap="flat" cmpd="sng">
                      <a:solidFill>
                        <a:srgbClr val="4F81BD"/>
                      </a:solidFill>
                      <a:prstDash val="solid"/>
                      <a:headEnd type="none" w="med" len="med"/>
                      <a:tailEnd type="none" w="med" len="med"/>
                    </a:lnT>
                    <a:lnB w="12700" cap="flat" cmpd="sng">
                      <a:solidFill>
                        <a:srgbClr val="4F81BD"/>
                      </a:solidFill>
                      <a:prstDash val="solid"/>
                      <a:headEnd type="none" w="med" len="med"/>
                      <a:tailEnd type="none" w="med" len="med"/>
                    </a:lnB>
                    <a:solidFill>
                      <a:srgbClr val="DBE5F1"/>
                    </a:solidFill>
                  </a:tcPr>
                </a:tc>
                <a:tc>
                  <a:txBody>
                    <a:bodyPr/>
                    <a:lstStyle/>
                    <a:p>
                      <a:pPr marL="40005" indent="0" algn="l">
                        <a:spcBef>
                          <a:spcPct val="0"/>
                        </a:spcBef>
                        <a:spcAft>
                          <a:spcPct val="0"/>
                        </a:spcAft>
                      </a:pPr>
                      <a:r>
                        <a:rPr sz="1400">
                          <a:solidFill>
                            <a:srgbClr val="000000"/>
                          </a:solidFill>
                          <a:latin typeface="Arial" panose="020B0604020202020204" pitchFamily="34" charset="0"/>
                          <a:ea typeface="SimSun" panose="02010600030101010101" pitchFamily="2" charset="-122"/>
                          <a:cs typeface="Arial" panose="020B0604020202020204" pitchFamily="34" charset="0"/>
                        </a:rPr>
                        <a:t>Total development cost is $20,000; needs 4 developers for 3 months.</a:t>
                      </a:r>
                    </a:p>
                  </a:txBody>
                  <a:tcPr marL="9525" marR="9525" marT="9525" marB="9525" anchor="ctr">
                    <a:lnL w="12700" cap="flat" cmpd="sng">
                      <a:solidFill>
                        <a:srgbClr val="4F81BD"/>
                      </a:solidFill>
                      <a:prstDash val="solid"/>
                      <a:headEnd type="none" w="med" len="med"/>
                      <a:tailEnd type="none" w="med" len="med"/>
                    </a:lnL>
                    <a:lnR w="12700" cap="flat" cmpd="sng">
                      <a:solidFill>
                        <a:srgbClr val="4F81BD"/>
                      </a:solidFill>
                      <a:prstDash val="solid"/>
                      <a:headEnd type="none" w="med" len="med"/>
                      <a:tailEnd type="none" w="med" len="med"/>
                    </a:lnR>
                    <a:lnT w="12700" cap="flat" cmpd="sng">
                      <a:solidFill>
                        <a:srgbClr val="4F81BD"/>
                      </a:solidFill>
                      <a:prstDash val="solid"/>
                      <a:headEnd type="none" w="med" len="med"/>
                      <a:tailEnd type="none" w="med" len="med"/>
                    </a:lnT>
                    <a:lnB w="12700" cap="flat" cmpd="sng">
                      <a:solidFill>
                        <a:srgbClr val="4F81BD"/>
                      </a:solidFill>
                      <a:prstDash val="solid"/>
                      <a:headEnd type="none" w="med" len="med"/>
                      <a:tailEnd type="none" w="med" len="med"/>
                    </a:lnB>
                    <a:solidFill>
                      <a:srgbClr val="DBE5F1"/>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A59C7-590D-3E61-91FD-835FB100591F}"/>
              </a:ext>
            </a:extLst>
          </p:cNvPr>
          <p:cNvSpPr>
            <a:spLocks noGrp="1"/>
          </p:cNvSpPr>
          <p:nvPr>
            <p:ph type="ctrTitle"/>
          </p:nvPr>
        </p:nvSpPr>
        <p:spPr/>
        <p:txBody>
          <a:bodyPr/>
          <a:lstStyle/>
          <a:p>
            <a:r>
              <a:rPr lang="en-US" dirty="0">
                <a:latin typeface="Arial" panose="020B0604020202020204" pitchFamily="34" charset="0"/>
                <a:cs typeface="Arial" panose="020B0604020202020204" pitchFamily="34" charset="0"/>
              </a:rPr>
              <a:t>90-90 Rule &amp; W5HH</a:t>
            </a:r>
          </a:p>
        </p:txBody>
      </p:sp>
      <p:sp>
        <p:nvSpPr>
          <p:cNvPr id="3" name="Subtitle 2">
            <a:extLst>
              <a:ext uri="{FF2B5EF4-FFF2-40B4-BE49-F238E27FC236}">
                <a16:creationId xmlns:a16="http://schemas.microsoft.com/office/drawing/2014/main" id="{2B3F9242-8436-8A4C-5EAF-EE41C65DFF4D}"/>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5522155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B6CF8-6C5B-3DC0-369D-1665FC342569}"/>
              </a:ext>
            </a:extLst>
          </p:cNvPr>
          <p:cNvSpPr>
            <a:spLocks noGrp="1"/>
          </p:cNvSpPr>
          <p:nvPr>
            <p:ph type="title"/>
          </p:nvPr>
        </p:nvSpPr>
        <p:spPr/>
        <p:txBody>
          <a:bodyPr>
            <a:normAutofit/>
          </a:bodyPr>
          <a:lstStyle/>
          <a:p>
            <a:r>
              <a:rPr lang="en-US" sz="3000" dirty="0">
                <a:latin typeface="Arial" panose="020B0604020202020204" pitchFamily="34" charset="0"/>
                <a:cs typeface="Arial" panose="020B0604020202020204" pitchFamily="34" charset="0"/>
              </a:rPr>
              <a:t>90-90 Rule</a:t>
            </a:r>
          </a:p>
        </p:txBody>
      </p:sp>
      <p:sp>
        <p:nvSpPr>
          <p:cNvPr id="3" name="Content Placeholder 2">
            <a:extLst>
              <a:ext uri="{FF2B5EF4-FFF2-40B4-BE49-F238E27FC236}">
                <a16:creationId xmlns:a16="http://schemas.microsoft.com/office/drawing/2014/main" id="{E2F70192-9585-5C6B-43AB-9B03DA663082}"/>
              </a:ext>
            </a:extLst>
          </p:cNvPr>
          <p:cNvSpPr>
            <a:spLocks noGrp="1"/>
          </p:cNvSpPr>
          <p:nvPr>
            <p:ph idx="1"/>
          </p:nvPr>
        </p:nvSpPr>
        <p:spPr/>
        <p:txBody>
          <a:bodyPr>
            <a:normAutofit/>
          </a:bodyPr>
          <a:lstStyle/>
          <a:p>
            <a:r>
              <a:rPr lang="en-US" dirty="0">
                <a:solidFill>
                  <a:srgbClr val="000000"/>
                </a:solidFill>
                <a:latin typeface="Calibri (Body)"/>
                <a:cs typeface="Arial" panose="020B0604020202020204" pitchFamily="34" charset="0"/>
              </a:rPr>
              <a:t>The Ninety-Ninety Rule is a humorous observation in software development, which states that the first 90% of a project takes 90% of the time, and the remaining 10% also takes 90% of the time.</a:t>
            </a:r>
            <a:endParaRPr lang="en-US" dirty="0">
              <a:latin typeface="Calibri (Body)"/>
              <a:cs typeface="Arial" panose="020B0604020202020204" pitchFamily="34" charset="0"/>
            </a:endParaRPr>
          </a:p>
        </p:txBody>
      </p:sp>
    </p:spTree>
    <p:extLst>
      <p:ext uri="{BB962C8B-B14F-4D97-AF65-F5344CB8AC3E}">
        <p14:creationId xmlns:p14="http://schemas.microsoft.com/office/powerpoint/2010/main" val="12110806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F4D59-4F6C-1BE9-19D0-D0ACBCBABB5E}"/>
              </a:ext>
            </a:extLst>
          </p:cNvPr>
          <p:cNvSpPr>
            <a:spLocks noGrp="1"/>
          </p:cNvSpPr>
          <p:nvPr>
            <p:ph type="title"/>
          </p:nvPr>
        </p:nvSpPr>
        <p:spPr/>
        <p:txBody>
          <a:bodyPr>
            <a:normAutofit fontScale="90000"/>
          </a:bodyPr>
          <a:lstStyle/>
          <a:p>
            <a:br>
              <a:rPr lang="en-US" dirty="0"/>
            </a:br>
            <a:r>
              <a:rPr lang="en-US" sz="3300" dirty="0">
                <a:latin typeface="Arial" panose="020B0604020202020204" pitchFamily="34" charset="0"/>
                <a:cs typeface="Arial" panose="020B0604020202020204" pitchFamily="34" charset="0"/>
              </a:rPr>
              <a:t>Key Takeaways</a:t>
            </a:r>
            <a:br>
              <a:rPr lang="en-US" dirty="0"/>
            </a:br>
            <a:endParaRPr lang="en-US" dirty="0"/>
          </a:p>
        </p:txBody>
      </p:sp>
      <p:sp>
        <p:nvSpPr>
          <p:cNvPr id="3" name="Content Placeholder 2">
            <a:extLst>
              <a:ext uri="{FF2B5EF4-FFF2-40B4-BE49-F238E27FC236}">
                <a16:creationId xmlns:a16="http://schemas.microsoft.com/office/drawing/2014/main" id="{DA5BC2AA-9D31-626B-E8A4-DBF5180D50F8}"/>
              </a:ext>
            </a:extLst>
          </p:cNvPr>
          <p:cNvSpPr>
            <a:spLocks noGrp="1"/>
          </p:cNvSpPr>
          <p:nvPr>
            <p:ph idx="1"/>
          </p:nvPr>
        </p:nvSpPr>
        <p:spPr>
          <a:xfrm>
            <a:off x="628650" y="1378634"/>
            <a:ext cx="8248064" cy="4515437"/>
          </a:xfrm>
        </p:spPr>
        <p:txBody>
          <a:bodyPr>
            <a:noAutofit/>
          </a:bodyPr>
          <a:lstStyle/>
          <a:p>
            <a:pPr marL="0" indent="0">
              <a:buNone/>
            </a:pPr>
            <a:endParaRPr lang="en-US" sz="2400" dirty="0">
              <a:latin typeface="Calibri (Body)"/>
            </a:endParaRPr>
          </a:p>
          <a:p>
            <a:r>
              <a:rPr lang="en-US" sz="2400" dirty="0">
                <a:latin typeface="Calibri (Body)"/>
                <a:cs typeface="Arial" panose="020B0604020202020204" pitchFamily="34" charset="0"/>
              </a:rPr>
              <a:t>The Ninety-Ninety Rule is a humorous aphorism in software engineering, stating that the first 90% of a project’s code takes 90% of the development time, while the remaining 10% takes the other 90% of the time.</a:t>
            </a:r>
          </a:p>
          <a:p>
            <a:r>
              <a:rPr lang="en-US" sz="2400" dirty="0">
                <a:latin typeface="Calibri (Body)"/>
                <a:cs typeface="Arial" panose="020B0604020202020204" pitchFamily="34" charset="0"/>
              </a:rPr>
              <a:t>This rule highlights the common issue of underestimating the time required for project completion, as the last 10% of development often involves bug-fixes, optimization, and final adjustments that are unexpectedly time-consuming.</a:t>
            </a:r>
          </a:p>
          <a:p>
            <a:r>
              <a:rPr lang="en-US" sz="2400" dirty="0">
                <a:latin typeface="Calibri (Body)"/>
                <a:cs typeface="Arial" panose="020B0604020202020204" pitchFamily="34" charset="0"/>
              </a:rPr>
              <a:t>While not a definitive guideline, the Ninety-Ninety Rule serves as a cautionary reminder for project managers and developers to always allocate enough time for the final stages of development to ensure overall project success.</a:t>
            </a:r>
          </a:p>
        </p:txBody>
      </p:sp>
    </p:spTree>
    <p:extLst>
      <p:ext uri="{BB962C8B-B14F-4D97-AF65-F5344CB8AC3E}">
        <p14:creationId xmlns:p14="http://schemas.microsoft.com/office/powerpoint/2010/main" val="11307202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568*502"/>
  <p:tag name="TABLE_ENDDRAG_RECT" val="53*29*568*502"/>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627*387"/>
  <p:tag name="TABLE_ENDDRAG_RECT" val="42*69*627*387"/>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63</TotalTime>
  <Words>1975</Words>
  <Application>Microsoft Office PowerPoint</Application>
  <PresentationFormat>On-screen Show (4:3)</PresentationFormat>
  <Paragraphs>149</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(Body)</vt:lpstr>
      <vt:lpstr>Calibri Light</vt:lpstr>
      <vt:lpstr>Office Theme</vt:lpstr>
      <vt:lpstr>CSE-327 Software Engineering </vt:lpstr>
      <vt:lpstr>Reference </vt:lpstr>
      <vt:lpstr>Software Quality Assurance (SQA) </vt:lpstr>
      <vt:lpstr>Elements of Software Quality Assurance</vt:lpstr>
      <vt:lpstr>Elements of Software Quality Assurance</vt:lpstr>
      <vt:lpstr>Elements of Software Quality Assurance</vt:lpstr>
      <vt:lpstr>Elements of Software Quality Assurance</vt:lpstr>
      <vt:lpstr>SQA Tasks</vt:lpstr>
      <vt:lpstr>Goals, Attributes, and Metrics </vt:lpstr>
      <vt:lpstr>PowerPoint Presentation</vt:lpstr>
      <vt:lpstr>Six Sigma for Software Engineering</vt:lpstr>
      <vt:lpstr>Six Sigma for Software Engineering</vt:lpstr>
      <vt:lpstr>Six Sigma for Software Engineering</vt:lpstr>
      <vt:lpstr>Six Sigma for Software Engineering</vt:lpstr>
      <vt:lpstr>Example of Six Sigma for Existing System</vt:lpstr>
      <vt:lpstr>PowerPoint Presentation</vt:lpstr>
      <vt:lpstr>Example of Six Sigma for New System</vt:lpstr>
      <vt:lpstr>PowerPoint Presentation</vt:lpstr>
      <vt:lpstr>W5HH Principles</vt:lpstr>
      <vt:lpstr>PowerPoint Presentation</vt:lpstr>
      <vt:lpstr>90-90 Rule &amp; W5HH</vt:lpstr>
      <vt:lpstr>90-90 Rule</vt:lpstr>
      <vt:lpstr> Key Takeaways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RUMANA</dc:creator>
  <cp:lastModifiedBy>Md Shakil</cp:lastModifiedBy>
  <cp:revision>29</cp:revision>
  <dcterms:created xsi:type="dcterms:W3CDTF">2023-08-19T04:18:00Z</dcterms:created>
  <dcterms:modified xsi:type="dcterms:W3CDTF">2026-04-04T09:34:01Z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45A4FFEE406A4C588B2705045CDCD2CE_13</vt:lpwstr>
  </property>
  <property fmtid="{D5CDD505-2E9C-101B-9397-08002B2CF9AE}" pid="3" name="KSOProductBuildVer">
    <vt:lpwstr>1033-12.2.0.23155</vt:lpwstr>
  </property>
</Properties>
</file>