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70" r:id="rId3"/>
    <p:sldId id="271" r:id="rId4"/>
    <p:sldId id="272" r:id="rId5"/>
    <p:sldId id="273" r:id="rId6"/>
    <p:sldId id="274" r:id="rId7"/>
    <p:sldId id="275" r:id="rId8"/>
    <p:sldId id="278" r:id="rId9"/>
    <p:sldId id="293" r:id="rId10"/>
    <p:sldId id="294" r:id="rId11"/>
    <p:sldId id="279" r:id="rId12"/>
    <p:sldId id="280" r:id="rId13"/>
    <p:sldId id="285" r:id="rId14"/>
    <p:sldId id="289" r:id="rId15"/>
    <p:sldId id="290" r:id="rId16"/>
    <p:sldId id="291" r:id="rId17"/>
    <p:sldId id="29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15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DD8FCE-F0DB-4AF7-8B3F-D7D24C003363}"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82867-3FFB-441F-A64E-C4F94ABFBD4B}"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D8FCE-F0DB-4AF7-8B3F-D7D24C003363}"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DD8FCE-F0DB-4AF7-8B3F-D7D24C003363}"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82867-3FFB-441F-A64E-C4F94ABFBD4B}"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DD8FCE-F0DB-4AF7-8B3F-D7D24C003363}"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DD8FCE-F0DB-4AF7-8B3F-D7D24C003363}"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DD8FCE-F0DB-4AF7-8B3F-D7D24C003363}"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7DD8FCE-F0DB-4AF7-8B3F-D7D24C003363}" type="datetimeFigureOut">
              <a:rPr lang="en-US" smtClean="0"/>
              <a:t>4/8/2026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7DD8FCE-F0DB-4AF7-8B3F-D7D24C003363}" type="datetimeFigureOut">
              <a:rPr lang="en-US" smtClean="0"/>
              <a:t>4/8/2026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3582867-3FFB-441F-A64E-C4F94ABFBD4B}"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DD8FCE-F0DB-4AF7-8B3F-D7D24C003363}"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D8FCE-F0DB-4AF7-8B3F-D7D24C003363}"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D8FCE-F0DB-4AF7-8B3F-D7D24C003363}"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582867-3FFB-441F-A64E-C4F94ABFBD4B}"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7DD8FCE-F0DB-4AF7-8B3F-D7D24C003363}" type="datetimeFigureOut">
              <a:rPr lang="en-US" smtClean="0"/>
              <a:t>4/8/2026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3582867-3FFB-441F-A64E-C4F94ABFBD4B}"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dirty="0"/>
              <a:t>CSE-327</a:t>
            </a:r>
            <a:br>
              <a:rPr lang="en-US" sz="5400" dirty="0"/>
            </a:br>
            <a:r>
              <a:rPr lang="en-US" sz="5400" dirty="0"/>
              <a:t>Software Engineering</a:t>
            </a:r>
          </a:p>
        </p:txBody>
      </p:sp>
      <p:sp>
        <p:nvSpPr>
          <p:cNvPr id="3" name="Subtitle 2"/>
          <p:cNvSpPr>
            <a:spLocks noGrp="1"/>
          </p:cNvSpPr>
          <p:nvPr>
            <p:ph type="subTitle" idx="1"/>
          </p:nvPr>
        </p:nvSpPr>
        <p:spPr/>
        <p:txBody>
          <a:bodyPr>
            <a:normAutofit fontScale="45000" lnSpcReduction="20000"/>
          </a:bodyPr>
          <a:lstStyle/>
          <a:p>
            <a:r>
              <a:rPr lang="en-US" dirty="0"/>
              <a:t>Md </a:t>
            </a:r>
            <a:r>
              <a:rPr lang="en-US"/>
              <a:t>Shakil Ahmed</a:t>
            </a:r>
            <a:endParaRPr lang="en-US" dirty="0"/>
          </a:p>
          <a:p>
            <a:r>
              <a:rPr lang="en-US" dirty="0"/>
              <a:t>Lecturer</a:t>
            </a:r>
          </a:p>
          <a:p>
            <a:r>
              <a:rPr lang="en-US" dirty="0"/>
              <a:t>CSE, BUBT</a:t>
            </a:r>
          </a:p>
          <a:p>
            <a:r>
              <a:rPr lang="en-US" dirty="0"/>
              <a:t>Office – 602 (B1)</a:t>
            </a:r>
          </a:p>
          <a:p>
            <a:endParaRPr lang="en-US" dirty="0"/>
          </a:p>
        </p:txBody>
      </p:sp>
      <p:sp>
        <p:nvSpPr>
          <p:cNvPr id="4" name="Slide Number Placeholder 3"/>
          <p:cNvSpPr>
            <a:spLocks noGrp="1"/>
          </p:cNvSpPr>
          <p:nvPr>
            <p:ph type="sldNum" sz="quarter" idx="12"/>
          </p:nvPr>
        </p:nvSpPr>
        <p:spPr/>
        <p:txBody>
          <a:bodyPr/>
          <a:lstStyle/>
          <a:p>
            <a:fld id="{73582867-3FFB-441F-A64E-C4F94ABFBD4B}"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Book</a:t>
            </a:r>
          </a:p>
        </p:txBody>
      </p:sp>
      <p:sp>
        <p:nvSpPr>
          <p:cNvPr id="3" name="Content Placeholder 2"/>
          <p:cNvSpPr>
            <a:spLocks noGrp="1"/>
          </p:cNvSpPr>
          <p:nvPr>
            <p:ph idx="1"/>
          </p:nvPr>
        </p:nvSpPr>
        <p:spPr/>
        <p:txBody>
          <a:bodyPr/>
          <a:lstStyle/>
          <a:p>
            <a:r>
              <a:rPr lang="en-US" dirty="0">
                <a:solidFill>
                  <a:srgbClr val="FF0000"/>
                </a:solidFill>
              </a:rPr>
              <a:t>Chapter 30</a:t>
            </a:r>
            <a:r>
              <a:rPr lang="en-US" dirty="0"/>
              <a:t>: Software Engineering: A Practitioner’s Approach – Roger S. Pressman (8th Edition)</a:t>
            </a:r>
          </a:p>
          <a:p>
            <a:endParaRPr lang="en-US" dirty="0"/>
          </a:p>
        </p:txBody>
      </p:sp>
      <p:sp>
        <p:nvSpPr>
          <p:cNvPr id="4" name="Slide Number Placeholder 3"/>
          <p:cNvSpPr>
            <a:spLocks noGrp="1"/>
          </p:cNvSpPr>
          <p:nvPr>
            <p:ph type="sldNum" sz="quarter" idx="12"/>
          </p:nvPr>
        </p:nvSpPr>
        <p:spPr/>
        <p:txBody>
          <a:bodyPr/>
          <a:lstStyle/>
          <a:p>
            <a:fld id="{73582867-3FFB-441F-A64E-C4F94ABFBD4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(FP) Analysis</a:t>
            </a:r>
          </a:p>
        </p:txBody>
      </p:sp>
      <p:sp>
        <p:nvSpPr>
          <p:cNvPr id="3" name="Content Placeholder 2"/>
          <p:cNvSpPr>
            <a:spLocks noGrp="1"/>
          </p:cNvSpPr>
          <p:nvPr>
            <p:ph idx="1"/>
          </p:nvPr>
        </p:nvSpPr>
        <p:spPr/>
        <p:txBody>
          <a:bodyPr/>
          <a:lstStyle/>
          <a:p>
            <a:pPr algn="just"/>
            <a:r>
              <a:rPr lang="en-US" dirty="0"/>
              <a:t>The function point (FP) metric can be used effectively as a means for measuring the functionality delivered by a system. </a:t>
            </a:r>
          </a:p>
          <a:p>
            <a:pPr algn="just"/>
            <a:r>
              <a:rPr lang="en-US" dirty="0"/>
              <a:t>Using historical data, the FP metric can then be used to </a:t>
            </a:r>
          </a:p>
          <a:p>
            <a:pPr algn="just"/>
            <a:r>
              <a:rPr lang="en-US" dirty="0"/>
              <a:t>(1) estimate the cost or effort required to design, code, and test the software; </a:t>
            </a:r>
          </a:p>
          <a:p>
            <a:pPr algn="just"/>
            <a:r>
              <a:rPr lang="en-US" dirty="0"/>
              <a:t>(2) predict the number of errors that will be encountered during testing; and </a:t>
            </a:r>
          </a:p>
          <a:p>
            <a:pPr algn="just"/>
            <a:r>
              <a:rPr lang="en-US" dirty="0"/>
              <a:t>(3) forecast the number of components and/or the number of projected source lines in the implemented system.</a:t>
            </a:r>
          </a:p>
        </p:txBody>
      </p:sp>
      <p:sp>
        <p:nvSpPr>
          <p:cNvPr id="4" name="Slide Number Placeholder 3"/>
          <p:cNvSpPr>
            <a:spLocks noGrp="1"/>
          </p:cNvSpPr>
          <p:nvPr>
            <p:ph type="sldNum" sz="quarter" idx="12"/>
          </p:nvPr>
        </p:nvSpPr>
        <p:spPr/>
        <p:txBody>
          <a:bodyPr/>
          <a:lstStyle/>
          <a:p>
            <a:fld id="{73582867-3FFB-441F-A64E-C4F94ABFBD4B}"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Objectives of Functional Point Analysis</a:t>
            </a: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t>The objective of FPA is to measure the functionality that the user requests and receives.</a:t>
            </a:r>
          </a:p>
          <a:p>
            <a:pPr algn="just">
              <a:buFont typeface="Wingdings" panose="05000000000000000000" pitchFamily="2" charset="2"/>
              <a:buChar char="§"/>
            </a:pPr>
            <a:r>
              <a:rPr lang="en-US" dirty="0"/>
              <a:t>The objective of FPA is to measure software development and maintenance independently of the technology used for implementation.</a:t>
            </a:r>
          </a:p>
          <a:p>
            <a:pPr algn="just">
              <a:buFont typeface="Wingdings" panose="05000000000000000000" pitchFamily="2" charset="2"/>
              <a:buChar char="§"/>
            </a:pPr>
            <a:r>
              <a:rPr lang="en-US" dirty="0"/>
              <a:t>It should be simple enough to minimize the overhead of the measurement process.</a:t>
            </a:r>
          </a:p>
          <a:p>
            <a:pPr algn="just">
              <a:buFont typeface="Wingdings" panose="05000000000000000000" pitchFamily="2" charset="2"/>
              <a:buChar char="§"/>
            </a:pPr>
            <a:r>
              <a:rPr lang="en-US" dirty="0"/>
              <a:t>It should be a consistent measure among various projects and organizations. </a:t>
            </a:r>
          </a:p>
        </p:txBody>
      </p:sp>
      <p:sp>
        <p:nvSpPr>
          <p:cNvPr id="4" name="Slide Number Placeholder 3"/>
          <p:cNvSpPr>
            <a:spLocks noGrp="1"/>
          </p:cNvSpPr>
          <p:nvPr>
            <p:ph type="sldNum" sz="quarter" idx="12"/>
          </p:nvPr>
        </p:nvSpPr>
        <p:spPr/>
        <p:txBody>
          <a:bodyPr/>
          <a:lstStyle/>
          <a:p>
            <a:fld id="{73582867-3FFB-441F-A64E-C4F94ABFBD4B}"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Functional Point Analysis</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Transactional Functional Type</a:t>
            </a:r>
          </a:p>
          <a:p>
            <a:pPr>
              <a:buFont typeface="Wingdings" panose="05000000000000000000" pitchFamily="2" charset="2"/>
              <a:buChar char="§"/>
            </a:pPr>
            <a:r>
              <a:rPr lang="en-US" dirty="0"/>
              <a:t>Data Functional Type</a:t>
            </a:r>
          </a:p>
        </p:txBody>
      </p:sp>
      <p:sp>
        <p:nvSpPr>
          <p:cNvPr id="4" name="Slide Number Placeholder 3"/>
          <p:cNvSpPr>
            <a:spLocks noGrp="1"/>
          </p:cNvSpPr>
          <p:nvPr>
            <p:ph type="sldNum" sz="quarter" idx="12"/>
          </p:nvPr>
        </p:nvSpPr>
        <p:spPr/>
        <p:txBody>
          <a:bodyPr/>
          <a:lstStyle/>
          <a:p>
            <a:fld id="{73582867-3FFB-441F-A64E-C4F94ABFBD4B}"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Transactional Functional Type</a:t>
            </a: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solidFill>
                  <a:schemeClr val="accent1"/>
                </a:solidFill>
              </a:rPr>
              <a:t>External Input (EI)</a:t>
            </a:r>
            <a:r>
              <a:rPr lang="en-US" dirty="0"/>
              <a:t>: EI is an elementary process that controls information that comes from outside the application’s boundary. </a:t>
            </a:r>
          </a:p>
          <a:p>
            <a:pPr algn="just">
              <a:buFont typeface="Wingdings" panose="05000000000000000000" pitchFamily="2" charset="2"/>
              <a:buChar char="§"/>
            </a:pPr>
            <a:r>
              <a:rPr lang="en-US" dirty="0">
                <a:solidFill>
                  <a:schemeClr val="accent1"/>
                </a:solidFill>
              </a:rPr>
              <a:t>External Output (EO)</a:t>
            </a:r>
            <a:r>
              <a:rPr lang="en-US" dirty="0"/>
              <a:t>: EO is an elementary process that generates data or control information sent outside the application’s boundary. </a:t>
            </a:r>
          </a:p>
          <a:p>
            <a:pPr algn="just">
              <a:buFont typeface="Wingdings" panose="05000000000000000000" pitchFamily="2" charset="2"/>
              <a:buChar char="§"/>
            </a:pPr>
            <a:r>
              <a:rPr lang="en-US" dirty="0">
                <a:solidFill>
                  <a:schemeClr val="accent1"/>
                </a:solidFill>
              </a:rPr>
              <a:t>External Inquiries (EQ)</a:t>
            </a:r>
            <a:r>
              <a:rPr lang="en-US" dirty="0"/>
              <a:t>: EQ is an elementary process made up of an input-output combination that results in data retrieval. </a:t>
            </a:r>
          </a:p>
          <a:p>
            <a:endParaRPr lang="en-US" dirty="0"/>
          </a:p>
        </p:txBody>
      </p:sp>
      <p:sp>
        <p:nvSpPr>
          <p:cNvPr id="4" name="Slide Number Placeholder 3"/>
          <p:cNvSpPr>
            <a:spLocks noGrp="1"/>
          </p:cNvSpPr>
          <p:nvPr>
            <p:ph type="sldNum" sz="quarter" idx="12"/>
          </p:nvPr>
        </p:nvSpPr>
        <p:spPr/>
        <p:txBody>
          <a:bodyPr/>
          <a:lstStyle/>
          <a:p>
            <a:fld id="{73582867-3FFB-441F-A64E-C4F94ABFBD4B}"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Functional Type</a:t>
            </a: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solidFill>
                  <a:schemeClr val="accent1"/>
                </a:solidFill>
              </a:rPr>
              <a:t>Internal Logical File (ILF)</a:t>
            </a:r>
            <a:r>
              <a:rPr lang="en-US" dirty="0"/>
              <a:t>: A user-identifiable group of logically related data or control information </a:t>
            </a:r>
            <a:r>
              <a:rPr lang="en-US" dirty="0">
                <a:solidFill>
                  <a:srgbClr val="00B050"/>
                </a:solidFill>
              </a:rPr>
              <a:t>maintained within the boundary of the application</a:t>
            </a:r>
            <a:r>
              <a:rPr lang="en-US" dirty="0"/>
              <a:t>.</a:t>
            </a:r>
          </a:p>
          <a:p>
            <a:pPr algn="just">
              <a:buFont typeface="Wingdings" panose="05000000000000000000" pitchFamily="2" charset="2"/>
              <a:buChar char="§"/>
            </a:pPr>
            <a:r>
              <a:rPr lang="en-US" dirty="0">
                <a:solidFill>
                  <a:schemeClr val="accent1"/>
                </a:solidFill>
              </a:rPr>
              <a:t>External Interface File (EIF)</a:t>
            </a:r>
            <a:r>
              <a:rPr lang="en-US" dirty="0"/>
              <a:t>: A group of users recognizable logically related data allusion to the software but maintained within the boundary of another software. </a:t>
            </a:r>
            <a:r>
              <a:rPr lang="en-US" dirty="0">
                <a:solidFill>
                  <a:srgbClr val="00B050"/>
                </a:solidFill>
              </a:rPr>
              <a:t>The data is completely outside the application boundaries and is maintained by external inputs from other apps</a:t>
            </a:r>
            <a:r>
              <a:rPr lang="en-US" dirty="0"/>
              <a:t>. </a:t>
            </a:r>
          </a:p>
          <a:p>
            <a:pPr algn="just">
              <a:buFont typeface="Wingdings" panose="05000000000000000000" pitchFamily="2" charset="2"/>
              <a:buChar char="§"/>
            </a:pPr>
            <a:r>
              <a:rPr lang="en-US" dirty="0"/>
              <a:t>An internal logical file for another application houses the external interface file. A file can only be counted as an EIF or ILF by one application, not both. </a:t>
            </a:r>
          </a:p>
        </p:txBody>
      </p:sp>
      <p:sp>
        <p:nvSpPr>
          <p:cNvPr id="4" name="Slide Number Placeholder 3"/>
          <p:cNvSpPr>
            <a:spLocks noGrp="1"/>
          </p:cNvSpPr>
          <p:nvPr>
            <p:ph type="sldNum" sz="quarter" idx="12"/>
          </p:nvPr>
        </p:nvSpPr>
        <p:spPr/>
        <p:txBody>
          <a:bodyPr/>
          <a:lstStyle/>
          <a:p>
            <a:fld id="{73582867-3FFB-441F-A64E-C4F94ABFBD4B}"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Attributes</a:t>
            </a:r>
          </a:p>
        </p:txBody>
      </p:sp>
      <p:graphicFrame>
        <p:nvGraphicFramePr>
          <p:cNvPr id="4" name="Content Placeholder 3"/>
          <p:cNvGraphicFramePr>
            <a:graphicFrameLocks noGrp="1"/>
          </p:cNvGraphicFramePr>
          <p:nvPr>
            <p:ph idx="1"/>
          </p:nvPr>
        </p:nvGraphicFramePr>
        <p:xfrm>
          <a:off x="800100" y="3091536"/>
          <a:ext cx="7543800" cy="2834640"/>
        </p:xfrm>
        <a:graphic>
          <a:graphicData uri="http://schemas.openxmlformats.org/drawingml/2006/table">
            <a:tbl>
              <a:tblPr>
                <a:tableStyleId>{5C22544A-7EE6-4342-B048-85BDC9FD1C3A}</a:tableStyleId>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0">
                <a:tc>
                  <a:txBody>
                    <a:bodyPr/>
                    <a:lstStyle/>
                    <a:p>
                      <a:pPr algn="l" rtl="0" fontAlgn="base"/>
                      <a:r>
                        <a:rPr lang="en-US" sz="1600" b="1" dirty="0">
                          <a:effectLst/>
                        </a:rPr>
                        <a:t>Measurement Parameters</a:t>
                      </a:r>
                    </a:p>
                  </a:txBody>
                  <a:tcPr marL="38100" marR="38100" marT="95250" marB="95250" anchor="ctr"/>
                </a:tc>
                <a:tc>
                  <a:txBody>
                    <a:bodyPr/>
                    <a:lstStyle/>
                    <a:p>
                      <a:pPr algn="l" rtl="0" fontAlgn="base"/>
                      <a:r>
                        <a:rPr lang="en-US" sz="1600" b="1" dirty="0">
                          <a:effectLst/>
                        </a:rPr>
                        <a:t>Examples</a:t>
                      </a:r>
                    </a:p>
                  </a:txBody>
                  <a:tcPr marL="95250" marR="95250" marT="95250" marB="95250" anchor="ctr"/>
                </a:tc>
                <a:extLst>
                  <a:ext uri="{0D108BD9-81ED-4DB2-BD59-A6C34878D82A}">
                    <a16:rowId xmlns:a16="http://schemas.microsoft.com/office/drawing/2014/main" val="10000"/>
                  </a:ext>
                </a:extLst>
              </a:tr>
              <a:tr h="0">
                <a:tc>
                  <a:txBody>
                    <a:bodyPr/>
                    <a:lstStyle/>
                    <a:p>
                      <a:pPr algn="l" rtl="0" fontAlgn="base"/>
                      <a:r>
                        <a:rPr lang="en-US" sz="1400" b="0" dirty="0">
                          <a:effectLst/>
                        </a:rPr>
                        <a:t>Number of External Inputs (EI)</a:t>
                      </a:r>
                    </a:p>
                  </a:txBody>
                  <a:tcPr marL="95250" marR="95250" marT="133350" marB="133350" anchor="ctr"/>
                </a:tc>
                <a:tc>
                  <a:txBody>
                    <a:bodyPr/>
                    <a:lstStyle/>
                    <a:p>
                      <a:pPr algn="l" fontAlgn="ctr"/>
                      <a:r>
                        <a:rPr lang="en-US" sz="1400" b="0">
                          <a:effectLst/>
                        </a:rPr>
                        <a:t>Input screen and tables</a:t>
                      </a:r>
                    </a:p>
                  </a:txBody>
                  <a:tcPr marL="95250" marR="95250" marT="133350" marB="133350" anchor="ctr"/>
                </a:tc>
                <a:extLst>
                  <a:ext uri="{0D108BD9-81ED-4DB2-BD59-A6C34878D82A}">
                    <a16:rowId xmlns:a16="http://schemas.microsoft.com/office/drawing/2014/main" val="10001"/>
                  </a:ext>
                </a:extLst>
              </a:tr>
              <a:tr h="0">
                <a:tc>
                  <a:txBody>
                    <a:bodyPr/>
                    <a:lstStyle/>
                    <a:p>
                      <a:pPr algn="l" rtl="0" fontAlgn="base"/>
                      <a:r>
                        <a:rPr lang="en-US" sz="1400" b="0" dirty="0">
                          <a:effectLst/>
                        </a:rPr>
                        <a:t>Number of External Output (EO)</a:t>
                      </a:r>
                    </a:p>
                  </a:txBody>
                  <a:tcPr marL="95250" marR="95250" marT="133350" marB="133350" anchor="ctr"/>
                </a:tc>
                <a:tc>
                  <a:txBody>
                    <a:bodyPr/>
                    <a:lstStyle/>
                    <a:p>
                      <a:pPr algn="l" rtl="0" fontAlgn="base"/>
                      <a:r>
                        <a:rPr lang="en-US" sz="1400" b="0" dirty="0">
                          <a:effectLst/>
                        </a:rPr>
                        <a:t>Output screens and reports</a:t>
                      </a:r>
                    </a:p>
                  </a:txBody>
                  <a:tcPr marL="95250" marR="95250" marT="133350" marB="133350" anchor="ctr"/>
                </a:tc>
                <a:extLst>
                  <a:ext uri="{0D108BD9-81ED-4DB2-BD59-A6C34878D82A}">
                    <a16:rowId xmlns:a16="http://schemas.microsoft.com/office/drawing/2014/main" val="10002"/>
                  </a:ext>
                </a:extLst>
              </a:tr>
              <a:tr h="0">
                <a:tc>
                  <a:txBody>
                    <a:bodyPr/>
                    <a:lstStyle/>
                    <a:p>
                      <a:pPr algn="l" rtl="0" fontAlgn="base"/>
                      <a:r>
                        <a:rPr lang="en-US" sz="1400" b="0">
                          <a:effectLst/>
                        </a:rPr>
                        <a:t>Number of external inquiries (EQ)</a:t>
                      </a:r>
                    </a:p>
                  </a:txBody>
                  <a:tcPr marL="95250" marR="95250" marT="133350" marB="133350" anchor="ctr"/>
                </a:tc>
                <a:tc>
                  <a:txBody>
                    <a:bodyPr/>
                    <a:lstStyle/>
                    <a:p>
                      <a:pPr algn="l" rtl="0" fontAlgn="base"/>
                      <a:r>
                        <a:rPr lang="en-US" sz="1400" b="0">
                          <a:effectLst/>
                        </a:rPr>
                        <a:t>Prompts and interrupts</a:t>
                      </a:r>
                    </a:p>
                  </a:txBody>
                  <a:tcPr marL="95250" marR="95250" marT="133350" marB="133350" anchor="ctr"/>
                </a:tc>
                <a:extLst>
                  <a:ext uri="{0D108BD9-81ED-4DB2-BD59-A6C34878D82A}">
                    <a16:rowId xmlns:a16="http://schemas.microsoft.com/office/drawing/2014/main" val="10003"/>
                  </a:ext>
                </a:extLst>
              </a:tr>
              <a:tr h="0">
                <a:tc>
                  <a:txBody>
                    <a:bodyPr/>
                    <a:lstStyle/>
                    <a:p>
                      <a:pPr algn="l" rtl="0" fontAlgn="base"/>
                      <a:r>
                        <a:rPr lang="en-US" sz="1400" b="0">
                          <a:effectLst/>
                        </a:rPr>
                        <a:t>Number of internal files (ILF)</a:t>
                      </a:r>
                    </a:p>
                  </a:txBody>
                  <a:tcPr marL="95250" marR="95250" marT="133350" marB="133350" anchor="ctr"/>
                </a:tc>
                <a:tc>
                  <a:txBody>
                    <a:bodyPr/>
                    <a:lstStyle/>
                    <a:p>
                      <a:pPr algn="l" rtl="0" fontAlgn="base"/>
                      <a:r>
                        <a:rPr lang="en-US" sz="1400" b="0">
                          <a:effectLst/>
                        </a:rPr>
                        <a:t>Databases and directories</a:t>
                      </a:r>
                    </a:p>
                  </a:txBody>
                  <a:tcPr marL="95250" marR="95250" marT="133350" marB="133350" anchor="ctr"/>
                </a:tc>
                <a:extLst>
                  <a:ext uri="{0D108BD9-81ED-4DB2-BD59-A6C34878D82A}">
                    <a16:rowId xmlns:a16="http://schemas.microsoft.com/office/drawing/2014/main" val="10004"/>
                  </a:ext>
                </a:extLst>
              </a:tr>
              <a:tr h="0">
                <a:tc>
                  <a:txBody>
                    <a:bodyPr/>
                    <a:lstStyle/>
                    <a:p>
                      <a:pPr algn="l" rtl="0" fontAlgn="base"/>
                      <a:r>
                        <a:rPr lang="en-US" sz="1400" b="0">
                          <a:effectLst/>
                        </a:rPr>
                        <a:t>Number of external interfaces (EIF)</a:t>
                      </a:r>
                    </a:p>
                  </a:txBody>
                  <a:tcPr marL="95250" marR="95250" marT="133350" marB="133350" anchor="ctr"/>
                </a:tc>
                <a:tc>
                  <a:txBody>
                    <a:bodyPr/>
                    <a:lstStyle/>
                    <a:p>
                      <a:pPr algn="l" rtl="0" fontAlgn="base"/>
                      <a:r>
                        <a:rPr lang="en-US" sz="1400" b="0" dirty="0">
                          <a:effectLst/>
                        </a:rPr>
                        <a:t>Shared databases and shared routines</a:t>
                      </a:r>
                    </a:p>
                  </a:txBody>
                  <a:tcPr marL="95250" marR="95250" marT="133350" marB="133350" anchor="ctr"/>
                </a:tc>
                <a:extLst>
                  <a:ext uri="{0D108BD9-81ED-4DB2-BD59-A6C34878D82A}">
                    <a16:rowId xmlns:a16="http://schemas.microsoft.com/office/drawing/2014/main" val="10005"/>
                  </a:ext>
                </a:extLst>
              </a:tr>
            </a:tbl>
          </a:graphicData>
        </a:graphic>
      </p:graphicFrame>
      <p:sp>
        <p:nvSpPr>
          <p:cNvPr id="6" name="TextBox 5"/>
          <p:cNvSpPr txBox="1"/>
          <p:nvPr/>
        </p:nvSpPr>
        <p:spPr>
          <a:xfrm>
            <a:off x="862388" y="1952783"/>
            <a:ext cx="7464944" cy="923330"/>
          </a:xfrm>
          <a:prstGeom prst="rect">
            <a:avLst/>
          </a:prstGeom>
          <a:noFill/>
        </p:spPr>
        <p:txBody>
          <a:bodyPr wrap="square">
            <a:spAutoFit/>
          </a:bodyPr>
          <a:lstStyle/>
          <a:p>
            <a:pPr algn="just"/>
            <a:r>
              <a:rPr lang="en-US" dirty="0"/>
              <a:t>We calculate the functional point with the help of the number of functions and types of functions used in applications. These are classified into five types.</a:t>
            </a:r>
          </a:p>
        </p:txBody>
      </p:sp>
      <p:sp>
        <p:nvSpPr>
          <p:cNvPr id="3" name="Slide Number Placeholder 2"/>
          <p:cNvSpPr>
            <a:spLocks noGrp="1"/>
          </p:cNvSpPr>
          <p:nvPr>
            <p:ph type="sldNum" sz="quarter" idx="12"/>
          </p:nvPr>
        </p:nvSpPr>
        <p:spPr/>
        <p:txBody>
          <a:bodyPr/>
          <a:lstStyle/>
          <a:p>
            <a:fld id="{73582867-3FFB-441F-A64E-C4F94ABFBD4B}"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Scenario Example 1:</a:t>
            </a:r>
            <a:endParaRPr lang="en-US"/>
          </a:p>
        </p:txBody>
      </p:sp>
      <p:sp>
        <p:nvSpPr>
          <p:cNvPr id="3" name="Content Placeholder 2"/>
          <p:cNvSpPr>
            <a:spLocks noGrp="1"/>
          </p:cNvSpPr>
          <p:nvPr>
            <p:ph idx="1"/>
          </p:nvPr>
        </p:nvSpPr>
        <p:spPr/>
        <p:txBody>
          <a:bodyPr/>
          <a:lstStyle/>
          <a:p>
            <a:pPr algn="just"/>
            <a:r>
              <a:rPr lang="en-US" altLang="en-US"/>
              <a:t>A software company has been hired to develop an Online Library Management System for a university. The system allows students to </a:t>
            </a:r>
            <a:r>
              <a:rPr lang="en-US" altLang="en-US" b="1"/>
              <a:t>log in and search for available books by title, author, or category</a:t>
            </a:r>
            <a:r>
              <a:rPr lang="en-US" altLang="en-US"/>
              <a:t>. Students can </a:t>
            </a:r>
            <a:r>
              <a:rPr lang="en-US" altLang="en-US" b="1"/>
              <a:t>request to borrow books online and check the due date for returns.</a:t>
            </a:r>
            <a:r>
              <a:rPr lang="en-US" altLang="en-US"/>
              <a:t> Librarians use the system to </a:t>
            </a:r>
            <a:r>
              <a:rPr lang="en-US" altLang="en-US" b="1"/>
              <a:t>add new books, update book information, and approve or reject borrowing requests</a:t>
            </a:r>
            <a:r>
              <a:rPr lang="en-US" altLang="en-US"/>
              <a:t>. The system automatically </a:t>
            </a:r>
            <a:r>
              <a:rPr lang="en-US" altLang="en-US" b="1"/>
              <a:t>generates daily and monthly reports of issued and returned books</a:t>
            </a:r>
            <a:r>
              <a:rPr lang="en-US" altLang="en-US"/>
              <a:t>. All data related to books, students, and borrowing records are stored in the library’s internal database. The system also connects to an external university database to verify the student’s registration details before allowing them to borrow any book.</a:t>
            </a:r>
          </a:p>
        </p:txBody>
      </p:sp>
      <p:sp>
        <p:nvSpPr>
          <p:cNvPr id="4" name="Slide Number Placeholder 3"/>
          <p:cNvSpPr>
            <a:spLocks noGrp="1"/>
          </p:cNvSpPr>
          <p:nvPr>
            <p:ph type="sldNum" sz="quarter" idx="12"/>
          </p:nvPr>
        </p:nvSpPr>
        <p:spPr/>
        <p:txBody>
          <a:bodyPr/>
          <a:lstStyle/>
          <a:p>
            <a:fld id="{73582867-3FFB-441F-A64E-C4F94ABFBD4B}"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Scenario Example 2:</a:t>
            </a:r>
            <a:endParaRPr lang="en-US"/>
          </a:p>
        </p:txBody>
      </p:sp>
      <p:sp>
        <p:nvSpPr>
          <p:cNvPr id="3" name="Content Placeholder 2"/>
          <p:cNvSpPr>
            <a:spLocks noGrp="1"/>
          </p:cNvSpPr>
          <p:nvPr>
            <p:ph idx="1"/>
          </p:nvPr>
        </p:nvSpPr>
        <p:spPr/>
        <p:txBody>
          <a:bodyPr/>
          <a:lstStyle/>
          <a:p>
            <a:pPr algn="just"/>
            <a:r>
              <a:rPr lang="en-US" altLang="en-US"/>
              <a:t>A software company is developing an Online Student Attendance Management System for a university. Teachers can log in to the system and record daily attendance for each class. Students are able to view their attendance history and download monthly attendance reports. The admin manages all teacher and student accounts by adding, updating, or removing records when necessary. The system stores attendance, student, and teacher information in an internal database. It also connects to an external HR system used by the university to collect teacher information automatically.</a:t>
            </a:r>
          </a:p>
        </p:txBody>
      </p:sp>
      <p:sp>
        <p:nvSpPr>
          <p:cNvPr id="4" name="Slide Number Placeholder 3"/>
          <p:cNvSpPr>
            <a:spLocks noGrp="1"/>
          </p:cNvSpPr>
          <p:nvPr>
            <p:ph type="sldNum" sz="quarter" idx="12"/>
          </p:nvPr>
        </p:nvSpPr>
        <p:spPr/>
        <p:txBody>
          <a:bodyPr/>
          <a:lstStyle/>
          <a:p>
            <a:fld id="{73582867-3FFB-441F-A64E-C4F94ABFBD4B}"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Weights of 5 Functional Point Attributes and </a:t>
            </a:r>
            <a:r>
              <a:rPr lang="en-US" sz="4400" dirty="0">
                <a:sym typeface="+mn-ea"/>
              </a:rPr>
              <a:t>Values for VAF</a:t>
            </a:r>
          </a:p>
        </p:txBody>
      </p:sp>
      <p:graphicFrame>
        <p:nvGraphicFramePr>
          <p:cNvPr id="4" name="Content Placeholder 3"/>
          <p:cNvGraphicFramePr>
            <a:graphicFrameLocks noGrp="1"/>
          </p:cNvGraphicFramePr>
          <p:nvPr>
            <p:ph idx="1"/>
            <p:custDataLst>
              <p:tags r:id="rId1"/>
            </p:custDataLst>
          </p:nvPr>
        </p:nvGraphicFramePr>
        <p:xfrm>
          <a:off x="434975" y="1963420"/>
          <a:ext cx="4573270" cy="4145280"/>
        </p:xfrm>
        <a:graphic>
          <a:graphicData uri="http://schemas.openxmlformats.org/drawingml/2006/table">
            <a:tbl>
              <a:tblPr>
                <a:tableStyleId>{0505E3EF-67EA-436B-97B2-0124C06EBD24}</a:tableStyleId>
              </a:tblPr>
              <a:tblGrid>
                <a:gridCol w="1722120">
                  <a:extLst>
                    <a:ext uri="{9D8B030D-6E8A-4147-A177-3AD203B41FA5}">
                      <a16:colId xmlns:a16="http://schemas.microsoft.com/office/drawing/2014/main" val="20000"/>
                    </a:ext>
                  </a:extLst>
                </a:gridCol>
                <a:gridCol w="929005">
                  <a:extLst>
                    <a:ext uri="{9D8B030D-6E8A-4147-A177-3AD203B41FA5}">
                      <a16:colId xmlns:a16="http://schemas.microsoft.com/office/drawing/2014/main" val="20001"/>
                    </a:ext>
                  </a:extLst>
                </a:gridCol>
                <a:gridCol w="929640">
                  <a:extLst>
                    <a:ext uri="{9D8B030D-6E8A-4147-A177-3AD203B41FA5}">
                      <a16:colId xmlns:a16="http://schemas.microsoft.com/office/drawing/2014/main" val="20002"/>
                    </a:ext>
                  </a:extLst>
                </a:gridCol>
                <a:gridCol w="992505">
                  <a:extLst>
                    <a:ext uri="{9D8B030D-6E8A-4147-A177-3AD203B41FA5}">
                      <a16:colId xmlns:a16="http://schemas.microsoft.com/office/drawing/2014/main" val="20003"/>
                    </a:ext>
                  </a:extLst>
                </a:gridCol>
              </a:tblGrid>
              <a:tr h="678180">
                <a:tc>
                  <a:txBody>
                    <a:bodyPr/>
                    <a:lstStyle/>
                    <a:p>
                      <a:pPr algn="l" rtl="0" fontAlgn="base"/>
                      <a:r>
                        <a:rPr lang="en-US" sz="1600" dirty="0">
                          <a:effectLst/>
                        </a:rPr>
                        <a:t>Measurement Parameter</a:t>
                      </a:r>
                    </a:p>
                  </a:txBody>
                  <a:tcPr marL="38100" marR="38100" marT="95250" marB="95250" anchor="ctr"/>
                </a:tc>
                <a:tc>
                  <a:txBody>
                    <a:bodyPr/>
                    <a:lstStyle/>
                    <a:p>
                      <a:pPr algn="ctr" rtl="0" fontAlgn="base"/>
                      <a:r>
                        <a:rPr lang="en-US" sz="1600" dirty="0">
                          <a:effectLst/>
                        </a:rPr>
                        <a:t>Low/Simple</a:t>
                      </a:r>
                    </a:p>
                  </a:txBody>
                  <a:tcPr marL="95250" marR="95250" marT="95250" marB="95250" anchor="ctr"/>
                </a:tc>
                <a:tc>
                  <a:txBody>
                    <a:bodyPr/>
                    <a:lstStyle/>
                    <a:p>
                      <a:pPr algn="ctr" rtl="0" fontAlgn="base"/>
                      <a:r>
                        <a:rPr lang="en-US" sz="1600" dirty="0">
                          <a:effectLst/>
                        </a:rPr>
                        <a:t>Average</a:t>
                      </a:r>
                    </a:p>
                  </a:txBody>
                  <a:tcPr marL="95250" marR="95250" marT="95250" marB="95250" anchor="ctr"/>
                </a:tc>
                <a:tc>
                  <a:txBody>
                    <a:bodyPr/>
                    <a:lstStyle/>
                    <a:p>
                      <a:pPr algn="ctr" rtl="0" fontAlgn="base"/>
                      <a:r>
                        <a:rPr lang="en-US" sz="1600" dirty="0">
                          <a:effectLst/>
                        </a:rPr>
                        <a:t>High/Complex</a:t>
                      </a:r>
                    </a:p>
                  </a:txBody>
                  <a:tcPr marL="95250" marR="95250" marT="95250" marB="95250" anchor="ctr"/>
                </a:tc>
                <a:extLst>
                  <a:ext uri="{0D108BD9-81ED-4DB2-BD59-A6C34878D82A}">
                    <a16:rowId xmlns:a16="http://schemas.microsoft.com/office/drawing/2014/main" val="10000"/>
                  </a:ext>
                </a:extLst>
              </a:tr>
              <a:tr h="693420">
                <a:tc>
                  <a:txBody>
                    <a:bodyPr/>
                    <a:lstStyle/>
                    <a:p>
                      <a:pPr algn="l" rtl="0" fontAlgn="base"/>
                      <a:r>
                        <a:rPr lang="en-US" sz="1400" dirty="0">
                          <a:effectLst/>
                        </a:rPr>
                        <a:t>Number of external inputs (EI)</a:t>
                      </a:r>
                    </a:p>
                  </a:txBody>
                  <a:tcPr marL="95250" marR="95250" marT="133350" marB="133350" anchor="ctr"/>
                </a:tc>
                <a:tc>
                  <a:txBody>
                    <a:bodyPr/>
                    <a:lstStyle/>
                    <a:p>
                      <a:pPr algn="ctr" fontAlgn="base"/>
                      <a:r>
                        <a:rPr lang="en-US" sz="1400" dirty="0">
                          <a:effectLst/>
                        </a:rPr>
                        <a:t>3</a:t>
                      </a:r>
                    </a:p>
                  </a:txBody>
                  <a:tcPr marL="95250" marR="95250" marT="133350" marB="133350" anchor="ctr"/>
                </a:tc>
                <a:tc>
                  <a:txBody>
                    <a:bodyPr/>
                    <a:lstStyle/>
                    <a:p>
                      <a:pPr algn="ctr" fontAlgn="base"/>
                      <a:r>
                        <a:rPr lang="en-US" sz="1400" dirty="0">
                          <a:effectLst/>
                        </a:rPr>
                        <a:t>4</a:t>
                      </a:r>
                    </a:p>
                  </a:txBody>
                  <a:tcPr marL="95250" marR="95250" marT="133350" marB="133350" anchor="ctr"/>
                </a:tc>
                <a:tc>
                  <a:txBody>
                    <a:bodyPr/>
                    <a:lstStyle/>
                    <a:p>
                      <a:pPr algn="ctr" fontAlgn="base"/>
                      <a:r>
                        <a:rPr lang="en-US" sz="1400" dirty="0">
                          <a:effectLst/>
                        </a:rPr>
                        <a:t>6</a:t>
                      </a:r>
                    </a:p>
                  </a:txBody>
                  <a:tcPr marL="95250" marR="95250" marT="133350" marB="133350" anchor="ctr"/>
                </a:tc>
                <a:extLst>
                  <a:ext uri="{0D108BD9-81ED-4DB2-BD59-A6C34878D82A}">
                    <a16:rowId xmlns:a16="http://schemas.microsoft.com/office/drawing/2014/main" val="10001"/>
                  </a:ext>
                </a:extLst>
              </a:tr>
              <a:tr h="693420">
                <a:tc>
                  <a:txBody>
                    <a:bodyPr/>
                    <a:lstStyle/>
                    <a:p>
                      <a:pPr algn="l" rtl="0" fontAlgn="base"/>
                      <a:r>
                        <a:rPr lang="en-US" sz="1400">
                          <a:effectLst/>
                        </a:rPr>
                        <a:t>Number of external outputs (EO)</a:t>
                      </a:r>
                    </a:p>
                  </a:txBody>
                  <a:tcPr marL="95250" marR="95250" marT="133350" marB="133350" anchor="ctr"/>
                </a:tc>
                <a:tc>
                  <a:txBody>
                    <a:bodyPr/>
                    <a:lstStyle/>
                    <a:p>
                      <a:pPr algn="ctr" fontAlgn="base"/>
                      <a:r>
                        <a:rPr lang="en-US" sz="1400">
                          <a:effectLst/>
                        </a:rPr>
                        <a:t>4</a:t>
                      </a:r>
                    </a:p>
                  </a:txBody>
                  <a:tcPr marL="95250" marR="95250" marT="133350" marB="133350" anchor="ctr"/>
                </a:tc>
                <a:tc>
                  <a:txBody>
                    <a:bodyPr/>
                    <a:lstStyle/>
                    <a:p>
                      <a:pPr algn="ctr" fontAlgn="base"/>
                      <a:r>
                        <a:rPr lang="en-US" sz="1400" dirty="0">
                          <a:effectLst/>
                        </a:rPr>
                        <a:t>5</a:t>
                      </a:r>
                    </a:p>
                  </a:txBody>
                  <a:tcPr marL="95250" marR="95250" marT="133350" marB="133350" anchor="ctr"/>
                </a:tc>
                <a:tc>
                  <a:txBody>
                    <a:bodyPr/>
                    <a:lstStyle/>
                    <a:p>
                      <a:pPr algn="ctr" fontAlgn="base"/>
                      <a:r>
                        <a:rPr lang="en-US" sz="1400" dirty="0">
                          <a:effectLst/>
                        </a:rPr>
                        <a:t>7</a:t>
                      </a:r>
                    </a:p>
                  </a:txBody>
                  <a:tcPr marL="95250" marR="95250" marT="133350" marB="133350" anchor="ctr"/>
                </a:tc>
                <a:extLst>
                  <a:ext uri="{0D108BD9-81ED-4DB2-BD59-A6C34878D82A}">
                    <a16:rowId xmlns:a16="http://schemas.microsoft.com/office/drawing/2014/main" val="10002"/>
                  </a:ext>
                </a:extLst>
              </a:tr>
              <a:tr h="693420">
                <a:tc>
                  <a:txBody>
                    <a:bodyPr/>
                    <a:lstStyle/>
                    <a:p>
                      <a:pPr algn="l" rtl="0" fontAlgn="base"/>
                      <a:r>
                        <a:rPr lang="en-US" sz="1400" dirty="0">
                          <a:effectLst/>
                        </a:rPr>
                        <a:t>Number of external inquiries (EQ)</a:t>
                      </a:r>
                    </a:p>
                  </a:txBody>
                  <a:tcPr marL="95250" marR="95250" marT="133350" marB="133350" anchor="ctr"/>
                </a:tc>
                <a:tc>
                  <a:txBody>
                    <a:bodyPr/>
                    <a:lstStyle/>
                    <a:p>
                      <a:pPr algn="ctr" fontAlgn="base"/>
                      <a:r>
                        <a:rPr lang="en-US" sz="1400">
                          <a:effectLst/>
                        </a:rPr>
                        <a:t>3</a:t>
                      </a:r>
                    </a:p>
                  </a:txBody>
                  <a:tcPr marL="95250" marR="95250" marT="133350" marB="133350" anchor="ctr"/>
                </a:tc>
                <a:tc>
                  <a:txBody>
                    <a:bodyPr/>
                    <a:lstStyle/>
                    <a:p>
                      <a:pPr algn="ctr" fontAlgn="base"/>
                      <a:r>
                        <a:rPr lang="en-US" sz="1400">
                          <a:effectLst/>
                        </a:rPr>
                        <a:t>4</a:t>
                      </a:r>
                    </a:p>
                  </a:txBody>
                  <a:tcPr marL="95250" marR="95250" marT="133350" marB="133350" anchor="ctr"/>
                </a:tc>
                <a:tc>
                  <a:txBody>
                    <a:bodyPr/>
                    <a:lstStyle/>
                    <a:p>
                      <a:pPr algn="ctr" fontAlgn="base"/>
                      <a:r>
                        <a:rPr lang="en-US" sz="1400" dirty="0">
                          <a:effectLst/>
                        </a:rPr>
                        <a:t>6</a:t>
                      </a:r>
                    </a:p>
                  </a:txBody>
                  <a:tcPr marL="95250" marR="95250" marT="133350" marB="133350" anchor="ctr"/>
                </a:tc>
                <a:extLst>
                  <a:ext uri="{0D108BD9-81ED-4DB2-BD59-A6C34878D82A}">
                    <a16:rowId xmlns:a16="http://schemas.microsoft.com/office/drawing/2014/main" val="10003"/>
                  </a:ext>
                </a:extLst>
              </a:tr>
              <a:tr h="693420">
                <a:tc>
                  <a:txBody>
                    <a:bodyPr/>
                    <a:lstStyle/>
                    <a:p>
                      <a:pPr algn="l" rtl="0" fontAlgn="base"/>
                      <a:r>
                        <a:rPr lang="en-US" sz="1400">
                          <a:effectLst/>
                        </a:rPr>
                        <a:t>Number of internal files (ILF)</a:t>
                      </a:r>
                    </a:p>
                  </a:txBody>
                  <a:tcPr marL="95250" marR="95250" marT="133350" marB="133350" anchor="ctr"/>
                </a:tc>
                <a:tc>
                  <a:txBody>
                    <a:bodyPr/>
                    <a:lstStyle/>
                    <a:p>
                      <a:pPr algn="ctr" fontAlgn="base"/>
                      <a:r>
                        <a:rPr lang="en-US" sz="1400">
                          <a:effectLst/>
                        </a:rPr>
                        <a:t>7</a:t>
                      </a:r>
                    </a:p>
                  </a:txBody>
                  <a:tcPr marL="95250" marR="95250" marT="133350" marB="133350" anchor="ctr"/>
                </a:tc>
                <a:tc>
                  <a:txBody>
                    <a:bodyPr/>
                    <a:lstStyle/>
                    <a:p>
                      <a:pPr algn="ctr" fontAlgn="base"/>
                      <a:r>
                        <a:rPr lang="en-US" sz="1400">
                          <a:effectLst/>
                        </a:rPr>
                        <a:t>10</a:t>
                      </a:r>
                    </a:p>
                  </a:txBody>
                  <a:tcPr marL="95250" marR="95250" marT="133350" marB="133350" anchor="ctr"/>
                </a:tc>
                <a:tc>
                  <a:txBody>
                    <a:bodyPr/>
                    <a:lstStyle/>
                    <a:p>
                      <a:pPr algn="ctr" fontAlgn="base"/>
                      <a:r>
                        <a:rPr lang="en-US" sz="1400" dirty="0">
                          <a:effectLst/>
                        </a:rPr>
                        <a:t>15</a:t>
                      </a:r>
                    </a:p>
                  </a:txBody>
                  <a:tcPr marL="95250" marR="95250" marT="133350" marB="133350" anchor="ctr"/>
                </a:tc>
                <a:extLst>
                  <a:ext uri="{0D108BD9-81ED-4DB2-BD59-A6C34878D82A}">
                    <a16:rowId xmlns:a16="http://schemas.microsoft.com/office/drawing/2014/main" val="10004"/>
                  </a:ext>
                </a:extLst>
              </a:tr>
              <a:tr h="693420">
                <a:tc>
                  <a:txBody>
                    <a:bodyPr/>
                    <a:lstStyle/>
                    <a:p>
                      <a:pPr algn="l" fontAlgn="ctr"/>
                      <a:r>
                        <a:rPr lang="en-US" sz="1400">
                          <a:effectLst/>
                        </a:rPr>
                        <a:t>Number of External Interfaces (EIF)</a:t>
                      </a:r>
                    </a:p>
                  </a:txBody>
                  <a:tcPr marL="95250" marR="95250" marT="133350" marB="133350" anchor="ctr"/>
                </a:tc>
                <a:tc>
                  <a:txBody>
                    <a:bodyPr/>
                    <a:lstStyle/>
                    <a:p>
                      <a:pPr algn="ctr" fontAlgn="ctr"/>
                      <a:r>
                        <a:rPr lang="en-US" sz="1400">
                          <a:effectLst/>
                        </a:rPr>
                        <a:t>5</a:t>
                      </a:r>
                    </a:p>
                  </a:txBody>
                  <a:tcPr marL="95250" marR="95250" marT="133350" marB="133350" anchor="ctr"/>
                </a:tc>
                <a:tc>
                  <a:txBody>
                    <a:bodyPr/>
                    <a:lstStyle/>
                    <a:p>
                      <a:pPr algn="ctr" fontAlgn="ctr"/>
                      <a:r>
                        <a:rPr lang="en-US" sz="1400">
                          <a:effectLst/>
                        </a:rPr>
                        <a:t>7</a:t>
                      </a:r>
                    </a:p>
                  </a:txBody>
                  <a:tcPr marL="95250" marR="95250" marT="133350" marB="133350" anchor="ctr"/>
                </a:tc>
                <a:tc>
                  <a:txBody>
                    <a:bodyPr/>
                    <a:lstStyle/>
                    <a:p>
                      <a:pPr algn="ctr" fontAlgn="ctr"/>
                      <a:r>
                        <a:rPr lang="en-US" sz="1400" dirty="0">
                          <a:effectLst/>
                        </a:rPr>
                        <a:t>10</a:t>
                      </a:r>
                    </a:p>
                  </a:txBody>
                  <a:tcPr marL="95250" marR="95250" marT="133350" marB="133350" anchor="ctr"/>
                </a:tc>
                <a:extLst>
                  <a:ext uri="{0D108BD9-81ED-4DB2-BD59-A6C34878D82A}">
                    <a16:rowId xmlns:a16="http://schemas.microsoft.com/office/drawing/2014/main" val="10005"/>
                  </a:ext>
                </a:extLst>
              </a:tr>
            </a:tbl>
          </a:graphicData>
        </a:graphic>
      </p:graphicFrame>
      <p:graphicFrame>
        <p:nvGraphicFramePr>
          <p:cNvPr id="3" name="Table 2"/>
          <p:cNvGraphicFramePr/>
          <p:nvPr>
            <p:custDataLst>
              <p:tags r:id="rId2"/>
            </p:custDataLst>
          </p:nvPr>
        </p:nvGraphicFramePr>
        <p:xfrm>
          <a:off x="5342255" y="2103120"/>
          <a:ext cx="3256280" cy="2651760"/>
        </p:xfrm>
        <a:graphic>
          <a:graphicData uri="http://schemas.openxmlformats.org/drawingml/2006/table">
            <a:tbl>
              <a:tblPr firstRow="1" bandRow="1">
                <a:tableStyleId>{5C22544A-7EE6-4342-B048-85BDC9FD1C3A}</a:tableStyleId>
              </a:tblPr>
              <a:tblGrid>
                <a:gridCol w="1628140">
                  <a:extLst>
                    <a:ext uri="{9D8B030D-6E8A-4147-A177-3AD203B41FA5}">
                      <a16:colId xmlns:a16="http://schemas.microsoft.com/office/drawing/2014/main" val="20000"/>
                    </a:ext>
                  </a:extLst>
                </a:gridCol>
                <a:gridCol w="1628140">
                  <a:extLst>
                    <a:ext uri="{9D8B030D-6E8A-4147-A177-3AD203B41FA5}">
                      <a16:colId xmlns:a16="http://schemas.microsoft.com/office/drawing/2014/main" val="20001"/>
                    </a:ext>
                  </a:extLst>
                </a:gridCol>
              </a:tblGrid>
              <a:tr h="365760">
                <a:tc>
                  <a:txBody>
                    <a:bodyPr/>
                    <a:lstStyle/>
                    <a:p>
                      <a:pPr algn="ctr">
                        <a:buNone/>
                      </a:pPr>
                      <a:r>
                        <a:rPr lang="en-US"/>
                        <a:t>Type</a:t>
                      </a:r>
                    </a:p>
                  </a:txBody>
                  <a:tcPr/>
                </a:tc>
                <a:tc>
                  <a:txBody>
                    <a:bodyPr/>
                    <a:lstStyle/>
                    <a:p>
                      <a:pPr algn="ctr">
                        <a:buNone/>
                      </a:pPr>
                      <a:r>
                        <a:rPr lang="en-US"/>
                        <a:t>Value of VAF</a:t>
                      </a:r>
                    </a:p>
                  </a:txBody>
                  <a:tcPr/>
                </a:tc>
                <a:extLst>
                  <a:ext uri="{0D108BD9-81ED-4DB2-BD59-A6C34878D82A}">
                    <a16:rowId xmlns:a16="http://schemas.microsoft.com/office/drawing/2014/main" val="10000"/>
                  </a:ext>
                </a:extLst>
              </a:tr>
              <a:tr h="640080">
                <a:tc>
                  <a:txBody>
                    <a:bodyPr/>
                    <a:lstStyle/>
                    <a:p>
                      <a:pPr algn="ctr">
                        <a:buNone/>
                      </a:pPr>
                      <a:r>
                        <a:rPr lang="en-US"/>
                        <a:t>Absolutely Essential</a:t>
                      </a:r>
                    </a:p>
                  </a:txBody>
                  <a:tcPr/>
                </a:tc>
                <a:tc>
                  <a:txBody>
                    <a:bodyPr/>
                    <a:lstStyle/>
                    <a:p>
                      <a:pPr algn="ctr">
                        <a:buNone/>
                      </a:pPr>
                      <a:r>
                        <a:rPr lang="en-US"/>
                        <a:t>5</a:t>
                      </a:r>
                    </a:p>
                  </a:txBody>
                  <a:tcPr/>
                </a:tc>
                <a:extLst>
                  <a:ext uri="{0D108BD9-81ED-4DB2-BD59-A6C34878D82A}">
                    <a16:rowId xmlns:a16="http://schemas.microsoft.com/office/drawing/2014/main" val="10001"/>
                  </a:ext>
                </a:extLst>
              </a:tr>
              <a:tr h="640080">
                <a:tc>
                  <a:txBody>
                    <a:bodyPr/>
                    <a:lstStyle/>
                    <a:p>
                      <a:pPr algn="ctr">
                        <a:buNone/>
                      </a:pPr>
                      <a:r>
                        <a:rPr lang="en-US"/>
                        <a:t>Moderately Complex</a:t>
                      </a:r>
                    </a:p>
                  </a:txBody>
                  <a:tcPr/>
                </a:tc>
                <a:tc>
                  <a:txBody>
                    <a:bodyPr/>
                    <a:lstStyle/>
                    <a:p>
                      <a:pPr algn="ctr">
                        <a:buNone/>
                      </a:pPr>
                      <a:r>
                        <a:rPr lang="en-US"/>
                        <a:t>3.2857</a:t>
                      </a:r>
                    </a:p>
                  </a:txBody>
                  <a:tcPr/>
                </a:tc>
                <a:extLst>
                  <a:ext uri="{0D108BD9-81ED-4DB2-BD59-A6C34878D82A}">
                    <a16:rowId xmlns:a16="http://schemas.microsoft.com/office/drawing/2014/main" val="10002"/>
                  </a:ext>
                </a:extLst>
              </a:tr>
              <a:tr h="365760">
                <a:tc>
                  <a:txBody>
                    <a:bodyPr/>
                    <a:lstStyle/>
                    <a:p>
                      <a:pPr algn="ctr">
                        <a:buNone/>
                      </a:pPr>
                      <a:r>
                        <a:rPr lang="en-US"/>
                        <a:t>Average</a:t>
                      </a:r>
                    </a:p>
                  </a:txBody>
                  <a:tcPr/>
                </a:tc>
                <a:tc>
                  <a:txBody>
                    <a:bodyPr/>
                    <a:lstStyle/>
                    <a:p>
                      <a:pPr algn="ctr">
                        <a:buNone/>
                      </a:pPr>
                      <a:r>
                        <a:rPr lang="en-US"/>
                        <a:t>2.5</a:t>
                      </a:r>
                    </a:p>
                  </a:txBody>
                  <a:tcPr/>
                </a:tc>
                <a:extLst>
                  <a:ext uri="{0D108BD9-81ED-4DB2-BD59-A6C34878D82A}">
                    <a16:rowId xmlns:a16="http://schemas.microsoft.com/office/drawing/2014/main" val="10003"/>
                  </a:ext>
                </a:extLst>
              </a:tr>
              <a:tr h="640080">
                <a:tc>
                  <a:txBody>
                    <a:bodyPr/>
                    <a:lstStyle/>
                    <a:p>
                      <a:pPr algn="ctr">
                        <a:buNone/>
                      </a:pPr>
                      <a:r>
                        <a:rPr lang="en-US"/>
                        <a:t>Not important or not essential</a:t>
                      </a:r>
                    </a:p>
                  </a:txBody>
                  <a:tcPr/>
                </a:tc>
                <a:tc>
                  <a:txBody>
                    <a:bodyPr/>
                    <a:lstStyle/>
                    <a:p>
                      <a:pPr algn="ctr">
                        <a:buNone/>
                      </a:pPr>
                      <a:r>
                        <a:rPr lang="en-US"/>
                        <a:t>0</a:t>
                      </a:r>
                    </a:p>
                  </a:txBody>
                  <a:tcPr/>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fld id="{73582867-3FFB-441F-A64E-C4F94ABFBD4B}"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Formula</a:t>
            </a:r>
          </a:p>
        </p:txBody>
      </p:sp>
      <p:sp>
        <p:nvSpPr>
          <p:cNvPr id="3" name="Content Placeholder 2"/>
          <p:cNvSpPr>
            <a:spLocks noGrp="1"/>
          </p:cNvSpPr>
          <p:nvPr>
            <p:ph idx="1"/>
          </p:nvPr>
        </p:nvSpPr>
        <p:spPr/>
        <p:txBody>
          <a:bodyPr/>
          <a:lstStyle/>
          <a:p>
            <a:r>
              <a:rPr lang="en-US" dirty="0"/>
              <a:t>To compute function points (FP), the following relationship is used:</a:t>
            </a:r>
          </a:p>
          <a:p>
            <a:pPr algn="ctr"/>
            <a:r>
              <a:rPr lang="en-US" sz="3200" dirty="0">
                <a:solidFill>
                  <a:srgbClr val="00B050"/>
                </a:solidFill>
              </a:rPr>
              <a:t>FP = count total * [0.65 + 0.01 * </a:t>
            </a:r>
            <a:r>
              <a:rPr lang="en-US" sz="3200" b="0" i="1" dirty="0">
                <a:solidFill>
                  <a:srgbClr val="00B050"/>
                </a:solidFill>
                <a:effectLst/>
                <a:latin typeface="Nunito" pitchFamily="2" charset="0"/>
              </a:rPr>
              <a:t>⅀ </a:t>
            </a:r>
            <a:r>
              <a:rPr lang="en-US" sz="3200" dirty="0">
                <a:solidFill>
                  <a:srgbClr val="00B050"/>
                </a:solidFill>
              </a:rPr>
              <a:t>( F</a:t>
            </a:r>
            <a:r>
              <a:rPr lang="en-US" sz="3200" baseline="-25000" dirty="0">
                <a:solidFill>
                  <a:srgbClr val="00B050"/>
                </a:solidFill>
              </a:rPr>
              <a:t>i</a:t>
            </a:r>
            <a:r>
              <a:rPr lang="en-US" sz="3200" dirty="0">
                <a:solidFill>
                  <a:srgbClr val="00B050"/>
                </a:solidFill>
              </a:rPr>
              <a:t>)] </a:t>
            </a:r>
          </a:p>
        </p:txBody>
      </p:sp>
      <p:sp>
        <p:nvSpPr>
          <p:cNvPr id="15" name="TextBox 14"/>
          <p:cNvSpPr txBox="1"/>
          <p:nvPr/>
        </p:nvSpPr>
        <p:spPr>
          <a:xfrm>
            <a:off x="1160343" y="3303769"/>
            <a:ext cx="6992224" cy="954107"/>
          </a:xfrm>
          <a:prstGeom prst="rect">
            <a:avLst/>
          </a:prstGeom>
          <a:noFill/>
        </p:spPr>
        <p:txBody>
          <a:bodyPr wrap="square">
            <a:spAutoFit/>
          </a:bodyPr>
          <a:lstStyle/>
          <a:p>
            <a:r>
              <a:rPr lang="en-US" dirty="0"/>
              <a:t>where count total is the sum of all FP entries obtained from Figure 30.1 . </a:t>
            </a:r>
          </a:p>
          <a:p>
            <a:r>
              <a:rPr lang="en-US" dirty="0"/>
              <a:t>and </a:t>
            </a:r>
            <a:r>
              <a:rPr lang="en-US" sz="2000" dirty="0">
                <a:solidFill>
                  <a:srgbClr val="00B050"/>
                </a:solidFill>
              </a:rPr>
              <a:t>∑F</a:t>
            </a:r>
            <a:r>
              <a:rPr lang="en-US" sz="2000" baseline="-25000" dirty="0">
                <a:solidFill>
                  <a:srgbClr val="00B050"/>
                </a:solidFill>
              </a:rPr>
              <a:t>i</a:t>
            </a:r>
            <a:r>
              <a:rPr lang="en-US" sz="2000" dirty="0">
                <a:solidFill>
                  <a:srgbClr val="00B050"/>
                </a:solidFill>
              </a:rPr>
              <a:t> = 14 * VAF</a:t>
            </a:r>
          </a:p>
          <a:p>
            <a:endParaRPr lang="en-US" dirty="0"/>
          </a:p>
        </p:txBody>
      </p:sp>
      <p:sp>
        <p:nvSpPr>
          <p:cNvPr id="4" name="Slide Number Placeholder 3"/>
          <p:cNvSpPr>
            <a:spLocks noGrp="1"/>
          </p:cNvSpPr>
          <p:nvPr>
            <p:ph type="sldNum" sz="quarter" idx="12"/>
          </p:nvPr>
        </p:nvSpPr>
        <p:spPr/>
        <p:txBody>
          <a:bodyPr/>
          <a:lstStyle/>
          <a:p>
            <a:fld id="{73582867-3FFB-441F-A64E-C4F94ABFBD4B}"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a:t>
            </a:r>
          </a:p>
        </p:txBody>
      </p:sp>
      <p:sp>
        <p:nvSpPr>
          <p:cNvPr id="3" name="Content Placeholder 2"/>
          <p:cNvSpPr>
            <a:spLocks noGrp="1"/>
          </p:cNvSpPr>
          <p:nvPr>
            <p:ph idx="1"/>
          </p:nvPr>
        </p:nvSpPr>
        <p:spPr/>
        <p:txBody>
          <a:bodyPr/>
          <a:lstStyle/>
          <a:p>
            <a:r>
              <a:rPr lang="en-US" dirty="0"/>
              <a:t>Suppose, a system has 30 external inputs, 60 external outputs fields, and 23 different external queries manage 9 internal logical files and interfaces with 6 different legacy systems.</a:t>
            </a:r>
          </a:p>
          <a:p>
            <a:r>
              <a:rPr lang="en-US" dirty="0"/>
              <a:t>Calculate function point (FP) metric while considering the parameter of complexity as </a:t>
            </a:r>
            <a:r>
              <a:rPr lang="en-US" dirty="0">
                <a:solidFill>
                  <a:srgbClr val="FF0000"/>
                </a:solidFill>
              </a:rPr>
              <a:t>complex</a:t>
            </a:r>
            <a:r>
              <a:rPr lang="en-US" dirty="0"/>
              <a:t> and value adjustment factor (VAF) as </a:t>
            </a:r>
            <a:r>
              <a:rPr lang="en-US" dirty="0">
                <a:solidFill>
                  <a:srgbClr val="FF0000"/>
                </a:solidFill>
              </a:rPr>
              <a:t>absolutely essential</a:t>
            </a:r>
            <a:r>
              <a:rPr lang="en-US" dirty="0"/>
              <a:t>.</a:t>
            </a:r>
          </a:p>
          <a:p>
            <a:endParaRPr lang="en-US" dirty="0"/>
          </a:p>
        </p:txBody>
      </p:sp>
      <p:sp>
        <p:nvSpPr>
          <p:cNvPr id="4" name="Slide Number Placeholder 3"/>
          <p:cNvSpPr>
            <a:spLocks noGrp="1"/>
          </p:cNvSpPr>
          <p:nvPr>
            <p:ph type="sldNum" sz="quarter" idx="12"/>
          </p:nvPr>
        </p:nvSpPr>
        <p:spPr/>
        <p:txBody>
          <a:bodyPr/>
          <a:lstStyle/>
          <a:p>
            <a:fld id="{73582867-3FFB-441F-A64E-C4F94ABFBD4B}"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Task 2</a:t>
            </a:r>
            <a:endParaRPr lang="en-US"/>
          </a:p>
        </p:txBody>
      </p:sp>
      <p:sp>
        <p:nvSpPr>
          <p:cNvPr id="3" name="Content Placeholder 2"/>
          <p:cNvSpPr>
            <a:spLocks noGrp="1"/>
          </p:cNvSpPr>
          <p:nvPr>
            <p:ph idx="1"/>
          </p:nvPr>
        </p:nvSpPr>
        <p:spPr/>
        <p:txBody>
          <a:bodyPr/>
          <a:lstStyle/>
          <a:p>
            <a:r>
              <a:rPr lang="en-US" altLang="en-US"/>
              <a:t>A hotel booking system processes 22 external inputs, 50 external outputs, and 18 external queries. It manages 8 internal logical files and connects with 5 external systems. Determine the FP metric considering </a:t>
            </a:r>
            <a:r>
              <a:rPr lang="en-US" altLang="en-US" b="1"/>
              <a:t>average</a:t>
            </a:r>
            <a:r>
              <a:rPr lang="en-US" altLang="en-US"/>
              <a:t> complexity and VAF as </a:t>
            </a:r>
            <a:r>
              <a:rPr lang="en-US" altLang="en-US" b="1"/>
              <a:t>moderately complex</a:t>
            </a:r>
            <a:r>
              <a:rPr lang="en-US" altLang="en-US"/>
              <a:t>.</a:t>
            </a:r>
          </a:p>
        </p:txBody>
      </p:sp>
      <p:sp>
        <p:nvSpPr>
          <p:cNvPr id="4" name="Slide Number Placeholder 3"/>
          <p:cNvSpPr>
            <a:spLocks noGrp="1"/>
          </p:cNvSpPr>
          <p:nvPr>
            <p:ph type="sldNum" sz="quarter" idx="12"/>
          </p:nvPr>
        </p:nvSpPr>
        <p:spPr/>
        <p:txBody>
          <a:bodyPr/>
          <a:lstStyle/>
          <a:p>
            <a:fld id="{73582867-3FFB-441F-A64E-C4F94ABFBD4B}"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Task 3</a:t>
            </a:r>
            <a:endParaRPr lang="en-US"/>
          </a:p>
        </p:txBody>
      </p:sp>
      <p:sp>
        <p:nvSpPr>
          <p:cNvPr id="3" name="Content Placeholder 2"/>
          <p:cNvSpPr>
            <a:spLocks noGrp="1"/>
          </p:cNvSpPr>
          <p:nvPr>
            <p:ph idx="1"/>
          </p:nvPr>
        </p:nvSpPr>
        <p:spPr/>
        <p:txBody>
          <a:bodyPr/>
          <a:lstStyle/>
          <a:p>
            <a:r>
              <a:rPr lang="en-US" altLang="en-US"/>
              <a:t>A payroll system includes 30 external inputs, 45 external outputs, and 15 external queries. It has 10 internal logical files and interfaces with 6 legacy systems. Compute the FP metric assuming simple functions and VAF set as average.</a:t>
            </a:r>
          </a:p>
        </p:txBody>
      </p:sp>
      <p:sp>
        <p:nvSpPr>
          <p:cNvPr id="4" name="Slide Number Placeholder 3"/>
          <p:cNvSpPr>
            <a:spLocks noGrp="1"/>
          </p:cNvSpPr>
          <p:nvPr>
            <p:ph type="sldNum" sz="quarter" idx="12"/>
          </p:nvPr>
        </p:nvSpPr>
        <p:spPr/>
        <p:txBody>
          <a:bodyPr/>
          <a:lstStyle/>
          <a:p>
            <a:fld id="{73582867-3FFB-441F-A64E-C4F94ABFBD4B}"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Task 4</a:t>
            </a:r>
            <a:endParaRPr lang="en-US"/>
          </a:p>
        </p:txBody>
      </p:sp>
      <p:sp>
        <p:nvSpPr>
          <p:cNvPr id="3" name="Content Placeholder 2"/>
          <p:cNvSpPr>
            <a:spLocks noGrp="1"/>
          </p:cNvSpPr>
          <p:nvPr>
            <p:ph idx="1"/>
          </p:nvPr>
        </p:nvSpPr>
        <p:spPr/>
        <p:txBody>
          <a:bodyPr/>
          <a:lstStyle/>
          <a:p>
            <a:r>
              <a:rPr lang="en-US" altLang="en-US"/>
              <a:t>A hospital patient management system has 25 external inputs, 60 external outputs, and 22 external queries, with 9 internal logical files and 5 external interface systems. Calculate the FP metric considering all functions complex and VAF as not important.</a:t>
            </a:r>
          </a:p>
        </p:txBody>
      </p:sp>
      <p:sp>
        <p:nvSpPr>
          <p:cNvPr id="4" name="Slide Number Placeholder 3"/>
          <p:cNvSpPr>
            <a:spLocks noGrp="1"/>
          </p:cNvSpPr>
          <p:nvPr>
            <p:ph type="sldNum" sz="quarter" idx="12"/>
          </p:nvPr>
        </p:nvSpPr>
        <p:spPr/>
        <p:txBody>
          <a:bodyPr/>
          <a:lstStyle/>
          <a:p>
            <a:fld id="{73582867-3FFB-441F-A64E-C4F94ABFBD4B}"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Task 5</a:t>
            </a:r>
            <a:endParaRPr lang="en-US"/>
          </a:p>
        </p:txBody>
      </p:sp>
      <p:sp>
        <p:nvSpPr>
          <p:cNvPr id="3" name="Content Placeholder 2"/>
          <p:cNvSpPr>
            <a:spLocks noGrp="1"/>
          </p:cNvSpPr>
          <p:nvPr>
            <p:ph idx="1"/>
          </p:nvPr>
        </p:nvSpPr>
        <p:spPr/>
        <p:txBody>
          <a:bodyPr/>
          <a:lstStyle/>
          <a:p>
            <a:r>
              <a:rPr lang="en-US" altLang="en-US"/>
              <a:t>An online shopping platform handles 35 external inputs, 70 external outputs, and 28 external queries. It maintains 12 internal logical files and integrates with 7 external systems. Determine the Function Point (FP) metric using average function weight and VAF as absolutely essential.</a:t>
            </a:r>
          </a:p>
        </p:txBody>
      </p:sp>
      <p:sp>
        <p:nvSpPr>
          <p:cNvPr id="4" name="Slide Number Placeholder 3"/>
          <p:cNvSpPr>
            <a:spLocks noGrp="1"/>
          </p:cNvSpPr>
          <p:nvPr>
            <p:ph type="sldNum" sz="quarter" idx="12"/>
          </p:nvPr>
        </p:nvSpPr>
        <p:spPr/>
        <p:txBody>
          <a:bodyPr/>
          <a:lstStyle/>
          <a:p>
            <a:fld id="{73582867-3FFB-441F-A64E-C4F94ABFBD4B}" type="slidenum">
              <a:rPr lang="en-US" smtClean="0"/>
              <a:t>17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28*257"/>
  <p:tag name="TABLE_ENDDRAG_RECT" val="161*223*428*257"/>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56*200"/>
  <p:tag name="TABLE_ENDDRAG_RECT" val="447*204*256*200"/>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1101</Words>
  <Application>Microsoft Office PowerPoint</Application>
  <PresentationFormat>On-screen Show (4:3)</PresentationFormat>
  <Paragraphs>115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Calibri Light</vt:lpstr>
      <vt:lpstr>Nunito</vt:lpstr>
      <vt:lpstr>Wingdings</vt:lpstr>
      <vt:lpstr>Retrospect</vt:lpstr>
      <vt:lpstr>CSE-327 Software Engineering</vt:lpstr>
      <vt:lpstr>Reference Book</vt:lpstr>
      <vt:lpstr>Functional Point (FP) Analysis</vt:lpstr>
      <vt:lpstr>Objectives of Functional Point Analysis</vt:lpstr>
      <vt:lpstr>Types of Functional Point Analysis</vt:lpstr>
      <vt:lpstr>Transactional Functional Type</vt:lpstr>
      <vt:lpstr>Data Functional Type</vt:lpstr>
      <vt:lpstr>FP Attributes</vt:lpstr>
      <vt:lpstr>Scenario Example 1:</vt:lpstr>
      <vt:lpstr>Scenario Example 2:</vt:lpstr>
      <vt:lpstr>Weights of 5 Functional Point Attributes and Values for VAF</vt:lpstr>
      <vt:lpstr>Formula</vt:lpstr>
      <vt:lpstr>Task 1</vt:lpstr>
      <vt:lpstr>Task 2</vt:lpstr>
      <vt:lpstr>Task 3</vt:lpstr>
      <vt:lpstr>Task 4</vt:lpstr>
      <vt:lpstr>Task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RUMANA</dc:creator>
  <cp:lastModifiedBy>USER</cp:lastModifiedBy>
  <cp:revision>33</cp:revision>
  <dcterms:created xsi:type="dcterms:W3CDTF">2023-10-06T19:23:00Z</dcterms:created>
  <dcterms:modified xsi:type="dcterms:W3CDTF">2026-04-08T08:09:28Z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07BB2FFC99AC468D9B78E63688770593_12</vt:lpwstr>
  </property>
  <property fmtid="{D5CDD505-2E9C-101B-9397-08002B2CF9AE}" pid="3" name="KSOProductBuildVer">
    <vt:lpwstr>1033-12.2.0.23155</vt:lpwstr>
  </property>
</Properties>
</file>